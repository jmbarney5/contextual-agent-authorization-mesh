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1" r:id="rId5"/>
    <p:sldMasterId id="214748367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6858000" cx="1219357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T1tanw3xb0iPYKxpiIT1qeD70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110C76-D486-4E03-845E-BD895B2B4B92}">
  <a:tblStyle styleId="{30110C76-D486-4E03-845E-BD895B2B4B9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customschemas.google.com/relationships/presentationmetadata" Target="metadata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8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18"/>
          <p:cNvSpPr txBox="1"/>
          <p:nvPr>
            <p:ph idx="1"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"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" type="body"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2" type="body"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2"/>
          <p:cNvSpPr txBox="1"/>
          <p:nvPr>
            <p:ph idx="1" type="subTitle"/>
          </p:nvPr>
        </p:nvSpPr>
        <p:spPr>
          <a:xfrm>
            <a:off x="609480" y="273600"/>
            <a:ext cx="1097352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"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2" type="body"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3" type="body"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2"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3" type="body"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"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2"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3" type="body"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1" type="body"/>
          </p:nvPr>
        </p:nvSpPr>
        <p:spPr>
          <a:xfrm>
            <a:off x="609480" y="1604520"/>
            <a:ext cx="1097352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2" type="body"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7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7"/>
          <p:cNvSpPr txBox="1"/>
          <p:nvPr>
            <p:ph idx="1"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2"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3" type="body"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4" type="body"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" type="body"/>
          </p:nvPr>
        </p:nvSpPr>
        <p:spPr>
          <a:xfrm>
            <a:off x="609480" y="160452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2" type="body"/>
          </p:nvPr>
        </p:nvSpPr>
        <p:spPr>
          <a:xfrm>
            <a:off x="4320000" y="160452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3" type="body"/>
          </p:nvPr>
        </p:nvSpPr>
        <p:spPr>
          <a:xfrm>
            <a:off x="8030520" y="160452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8"/>
          <p:cNvSpPr txBox="1"/>
          <p:nvPr>
            <p:ph idx="4" type="body"/>
          </p:nvPr>
        </p:nvSpPr>
        <p:spPr>
          <a:xfrm>
            <a:off x="609480" y="368208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5" type="body"/>
          </p:nvPr>
        </p:nvSpPr>
        <p:spPr>
          <a:xfrm>
            <a:off x="4320000" y="368208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6" type="body"/>
          </p:nvPr>
        </p:nvSpPr>
        <p:spPr>
          <a:xfrm>
            <a:off x="8030520" y="368208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9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"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"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2" type="body"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idx="1" type="subTitle"/>
          </p:nvPr>
        </p:nvSpPr>
        <p:spPr>
          <a:xfrm>
            <a:off x="609480" y="273600"/>
            <a:ext cx="1097352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4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"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2" type="body"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3" type="body"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5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" type="body"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5"/>
          <p:cNvSpPr txBox="1"/>
          <p:nvPr>
            <p:ph idx="2"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5"/>
          <p:cNvSpPr txBox="1"/>
          <p:nvPr>
            <p:ph idx="3" type="body"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6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6"/>
          <p:cNvSpPr txBox="1"/>
          <p:nvPr>
            <p:ph idx="1"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6"/>
          <p:cNvSpPr txBox="1"/>
          <p:nvPr>
            <p:ph idx="2"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6"/>
          <p:cNvSpPr txBox="1"/>
          <p:nvPr>
            <p:ph idx="3" type="body"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7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7"/>
          <p:cNvSpPr txBox="1"/>
          <p:nvPr>
            <p:ph idx="1" type="body"/>
          </p:nvPr>
        </p:nvSpPr>
        <p:spPr>
          <a:xfrm>
            <a:off x="609480" y="1604520"/>
            <a:ext cx="1097352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7"/>
          <p:cNvSpPr txBox="1"/>
          <p:nvPr>
            <p:ph idx="2" type="body"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8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8"/>
          <p:cNvSpPr txBox="1"/>
          <p:nvPr>
            <p:ph idx="1"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8"/>
          <p:cNvSpPr txBox="1"/>
          <p:nvPr>
            <p:ph idx="2"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8"/>
          <p:cNvSpPr txBox="1"/>
          <p:nvPr>
            <p:ph idx="3" type="body"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8"/>
          <p:cNvSpPr txBox="1"/>
          <p:nvPr>
            <p:ph idx="4" type="body"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9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9"/>
          <p:cNvSpPr txBox="1"/>
          <p:nvPr>
            <p:ph idx="1" type="body"/>
          </p:nvPr>
        </p:nvSpPr>
        <p:spPr>
          <a:xfrm>
            <a:off x="609480" y="160452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9"/>
          <p:cNvSpPr txBox="1"/>
          <p:nvPr>
            <p:ph idx="2" type="body"/>
          </p:nvPr>
        </p:nvSpPr>
        <p:spPr>
          <a:xfrm>
            <a:off x="4320000" y="160452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9"/>
          <p:cNvSpPr txBox="1"/>
          <p:nvPr>
            <p:ph idx="3" type="body"/>
          </p:nvPr>
        </p:nvSpPr>
        <p:spPr>
          <a:xfrm>
            <a:off x="8030520" y="160452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9"/>
          <p:cNvSpPr txBox="1"/>
          <p:nvPr>
            <p:ph idx="4" type="body"/>
          </p:nvPr>
        </p:nvSpPr>
        <p:spPr>
          <a:xfrm>
            <a:off x="609480" y="368208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9"/>
          <p:cNvSpPr txBox="1"/>
          <p:nvPr>
            <p:ph idx="5" type="body"/>
          </p:nvPr>
        </p:nvSpPr>
        <p:spPr>
          <a:xfrm>
            <a:off x="4320000" y="368208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9"/>
          <p:cNvSpPr txBox="1"/>
          <p:nvPr>
            <p:ph idx="6" type="body"/>
          </p:nvPr>
        </p:nvSpPr>
        <p:spPr>
          <a:xfrm>
            <a:off x="8030520" y="368208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0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0"/>
          <p:cNvSpPr txBox="1"/>
          <p:nvPr>
            <p:ph idx="1"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1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1"/>
          <p:cNvSpPr txBox="1"/>
          <p:nvPr>
            <p:ph idx="1"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2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2"/>
          <p:cNvSpPr txBox="1"/>
          <p:nvPr>
            <p:ph idx="1" type="body"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2"/>
          <p:cNvSpPr txBox="1"/>
          <p:nvPr>
            <p:ph idx="2" type="body"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3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4"/>
          <p:cNvSpPr txBox="1"/>
          <p:nvPr>
            <p:ph idx="1" type="subTitle"/>
          </p:nvPr>
        </p:nvSpPr>
        <p:spPr>
          <a:xfrm>
            <a:off x="609480" y="273600"/>
            <a:ext cx="1097352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5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45"/>
          <p:cNvSpPr txBox="1"/>
          <p:nvPr>
            <p:ph idx="1"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5"/>
          <p:cNvSpPr txBox="1"/>
          <p:nvPr>
            <p:ph idx="2" type="body"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5"/>
          <p:cNvSpPr txBox="1"/>
          <p:nvPr>
            <p:ph idx="3" type="body"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6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6"/>
          <p:cNvSpPr txBox="1"/>
          <p:nvPr>
            <p:ph idx="1" type="body"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6"/>
          <p:cNvSpPr txBox="1"/>
          <p:nvPr>
            <p:ph idx="2"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46"/>
          <p:cNvSpPr txBox="1"/>
          <p:nvPr>
            <p:ph idx="3" type="body"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7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47"/>
          <p:cNvSpPr txBox="1"/>
          <p:nvPr>
            <p:ph idx="1"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7"/>
          <p:cNvSpPr txBox="1"/>
          <p:nvPr>
            <p:ph idx="2"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7"/>
          <p:cNvSpPr txBox="1"/>
          <p:nvPr>
            <p:ph idx="3" type="body"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8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8"/>
          <p:cNvSpPr txBox="1"/>
          <p:nvPr>
            <p:ph idx="1" type="body"/>
          </p:nvPr>
        </p:nvSpPr>
        <p:spPr>
          <a:xfrm>
            <a:off x="609480" y="1604520"/>
            <a:ext cx="1097352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48"/>
          <p:cNvSpPr txBox="1"/>
          <p:nvPr>
            <p:ph idx="2" type="body"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9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9"/>
          <p:cNvSpPr txBox="1"/>
          <p:nvPr>
            <p:ph idx="1"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49"/>
          <p:cNvSpPr txBox="1"/>
          <p:nvPr>
            <p:ph idx="2"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49"/>
          <p:cNvSpPr txBox="1"/>
          <p:nvPr>
            <p:ph idx="3" type="body"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49"/>
          <p:cNvSpPr txBox="1"/>
          <p:nvPr>
            <p:ph idx="4" type="body"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0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50"/>
          <p:cNvSpPr txBox="1"/>
          <p:nvPr>
            <p:ph idx="1" type="body"/>
          </p:nvPr>
        </p:nvSpPr>
        <p:spPr>
          <a:xfrm>
            <a:off x="609480" y="160452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50"/>
          <p:cNvSpPr txBox="1"/>
          <p:nvPr>
            <p:ph idx="2" type="body"/>
          </p:nvPr>
        </p:nvSpPr>
        <p:spPr>
          <a:xfrm>
            <a:off x="4320000" y="160452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50"/>
          <p:cNvSpPr txBox="1"/>
          <p:nvPr>
            <p:ph idx="3" type="body"/>
          </p:nvPr>
        </p:nvSpPr>
        <p:spPr>
          <a:xfrm>
            <a:off x="8030520" y="160452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50"/>
          <p:cNvSpPr txBox="1"/>
          <p:nvPr>
            <p:ph idx="4" type="body"/>
          </p:nvPr>
        </p:nvSpPr>
        <p:spPr>
          <a:xfrm>
            <a:off x="609480" y="368208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50"/>
          <p:cNvSpPr txBox="1"/>
          <p:nvPr>
            <p:ph idx="5" type="body"/>
          </p:nvPr>
        </p:nvSpPr>
        <p:spPr>
          <a:xfrm>
            <a:off x="4320000" y="368208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50"/>
          <p:cNvSpPr txBox="1"/>
          <p:nvPr>
            <p:ph idx="6" type="body"/>
          </p:nvPr>
        </p:nvSpPr>
        <p:spPr>
          <a:xfrm>
            <a:off x="8030520" y="368208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/>
          <p:nvPr/>
        </p:nvSpPr>
        <p:spPr>
          <a:xfrm>
            <a:off x="11520000" y="6592680"/>
            <a:ext cx="1468800" cy="403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2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2"/>
          <p:cNvSpPr txBox="1"/>
          <p:nvPr>
            <p:ph idx="1"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/>
          <p:nvPr/>
        </p:nvSpPr>
        <p:spPr>
          <a:xfrm>
            <a:off x="11510280" y="6366960"/>
            <a:ext cx="659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11415600" y="6529680"/>
            <a:ext cx="111924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"/>
          <p:cNvSpPr/>
          <p:nvPr/>
        </p:nvSpPr>
        <p:spPr>
          <a:xfrm>
            <a:off x="0" y="3998160"/>
            <a:ext cx="12171960" cy="161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SPIFFE/SPIRE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SEP-OCT/2023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"/>
          <p:cNvSpPr/>
          <p:nvPr/>
        </p:nvSpPr>
        <p:spPr>
          <a:xfrm>
            <a:off x="155160" y="-144360"/>
            <a:ext cx="916920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" name="Google Shape;167;p1"/>
          <p:cNvGrpSpPr/>
          <p:nvPr/>
        </p:nvGrpSpPr>
        <p:grpSpPr>
          <a:xfrm>
            <a:off x="553680" y="5760000"/>
            <a:ext cx="11062800" cy="1191960"/>
            <a:chOff x="553680" y="5760000"/>
            <a:chExt cx="11062800" cy="1191960"/>
          </a:xfrm>
        </p:grpSpPr>
        <p:pic>
          <p:nvPicPr>
            <p:cNvPr descr="Ficheiro:Hewlett Packard Enterprise logo.svg – Wikipédia, a enciclopédia  livre" id="168" name="Google Shape;168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37200" y="5914440"/>
              <a:ext cx="1979280" cy="804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ogotipos | Universidade de São Paulo" id="169" name="Google Shape;169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3680" y="5776920"/>
              <a:ext cx="1580400" cy="1175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84400" y="6063840"/>
              <a:ext cx="2907360" cy="601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999400" y="5760000"/>
              <a:ext cx="3066120" cy="995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2" name="Google Shape;172;p1"/>
          <p:cNvSpPr/>
          <p:nvPr/>
        </p:nvSpPr>
        <p:spPr>
          <a:xfrm>
            <a:off x="2496600" y="381240"/>
            <a:ext cx="9518400" cy="235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Assertions and Tokens WG 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397440"/>
            <a:ext cx="2475000" cy="231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09560" y="421920"/>
            <a:ext cx="9702720" cy="306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09560" y="2401920"/>
            <a:ext cx="9702720" cy="30672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"/>
          <p:cNvSpPr/>
          <p:nvPr/>
        </p:nvSpPr>
        <p:spPr>
          <a:xfrm>
            <a:off x="0" y="3200400"/>
            <a:ext cx="12193200" cy="118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LSVID spec. and updates</a:t>
            </a:r>
            <a:endParaRPr b="0" i="0" sz="4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"/>
          <p:cNvSpPr/>
          <p:nvPr/>
        </p:nvSpPr>
        <p:spPr>
          <a:xfrm>
            <a:off x="837720" y="41040"/>
            <a:ext cx="10481400" cy="129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Identity claims construction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"/>
          <p:cNvSpPr/>
          <p:nvPr/>
        </p:nvSpPr>
        <p:spPr>
          <a:xfrm>
            <a:off x="-180000" y="360000"/>
            <a:ext cx="874800" cy="6948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"/>
          <p:cNvSpPr/>
          <p:nvPr/>
        </p:nvSpPr>
        <p:spPr>
          <a:xfrm>
            <a:off x="428760" y="1352880"/>
            <a:ext cx="11427840" cy="340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Identity claims contain an identity document or its unique identifier (e.g., issuer, audience, subject).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Its original construction adopted a JSON-like </a:t>
            </a:r>
            <a:r>
              <a:rPr b="1" i="0" lang="pt-BR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key:value</a:t>
            </a:r>
            <a:r>
              <a:rPr b="0" i="0" lang="pt-BR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where the key is the claim name and the value contains a </a:t>
            </a:r>
            <a:r>
              <a:rPr b="1" i="0" lang="pt-BR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type.value</a:t>
            </a:r>
            <a:r>
              <a:rPr b="0" i="0" lang="pt-BR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sub-structure. E.g.: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"/>
          <p:cNvSpPr/>
          <p:nvPr/>
        </p:nvSpPr>
        <p:spPr>
          <a:xfrm>
            <a:off x="2925720" y="4479840"/>
            <a:ext cx="6341760" cy="49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iss:CN.spiffe://example.org/workload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"/>
          <p:cNvSpPr/>
          <p:nvPr/>
        </p:nvSpPr>
        <p:spPr>
          <a:xfrm>
            <a:off x="428760" y="5252760"/>
            <a:ext cx="11073960" cy="100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construction adds undesired complexity. Some alternatives are being discussed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"/>
          <p:cNvSpPr/>
          <p:nvPr/>
        </p:nvSpPr>
        <p:spPr>
          <a:xfrm>
            <a:off x="837720" y="41040"/>
            <a:ext cx="10481400" cy="129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specific claim to each identity type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-180000" y="360000"/>
            <a:ext cx="874800" cy="6948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428760" y="1352880"/>
            <a:ext cx="11427840" cy="340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identity type (e.g., common name, public key, LSVID) has a specific claim to store it using a JSON-like </a:t>
            </a:r>
            <a:r>
              <a:rPr b="1" i="0" lang="pt-BR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key:value</a:t>
            </a:r>
            <a:r>
              <a:rPr b="0" i="0" lang="pt-BR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"/>
          <p:cNvSpPr/>
          <p:nvPr/>
        </p:nvSpPr>
        <p:spPr>
          <a:xfrm>
            <a:off x="881640" y="3249360"/>
            <a:ext cx="6544440" cy="90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iss-CN:</a:t>
            </a:r>
            <a:r>
              <a:rPr b="0" i="0" lang="pt-BR" sz="3200" u="none" cap="none" strike="noStrike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spiffe://example.org/workload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"/>
          <p:cNvSpPr/>
          <p:nvPr/>
        </p:nvSpPr>
        <p:spPr>
          <a:xfrm>
            <a:off x="881640" y="4329720"/>
            <a:ext cx="6544440" cy="90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iss-PK:</a:t>
            </a:r>
            <a:r>
              <a:rPr b="0" i="0" lang="pt-BR" sz="3200" u="none" cap="none" strike="noStrike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SXNzdWVyUHVibGljS2V5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881640" y="5410080"/>
            <a:ext cx="10429920" cy="58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iss-LS:</a:t>
            </a:r>
            <a:r>
              <a:rPr b="0" i="0" lang="pt-BR" sz="3200" u="none" cap="none" strike="noStrike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e0xTVklELVBheWxvYWR9.e1NlcnZlciBTaWduYXR1cmV9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"/>
          <p:cNvSpPr/>
          <p:nvPr/>
        </p:nvSpPr>
        <p:spPr>
          <a:xfrm>
            <a:off x="837720" y="41040"/>
            <a:ext cx="10481400" cy="129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unique claim to all related identities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-180000" y="360000"/>
            <a:ext cx="874800" cy="6948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372600" y="1172880"/>
            <a:ext cx="11427840" cy="340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identity claim (e.g., issuer, audience, subject) uses a </a:t>
            </a:r>
            <a:r>
              <a:rPr b="1" i="0" lang="pt-B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key:value</a:t>
            </a:r>
            <a:r>
              <a:rPr b="0" i="0" lang="pt-B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format where the value is an array, following JSON spec (RFC-8259), containing the values in a predefined order: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881640" y="2601360"/>
            <a:ext cx="10344960" cy="18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iss:[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0" i="0" lang="pt-BR" sz="2800" u="none" cap="none" strike="noStrike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spiffe://example.org/workload,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       SXNzdWVyUHVibGljS2V5,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0" i="0" lang="pt-BR" sz="2800" u="none" cap="none" strike="noStrike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e0xTVklELVBheWxvYWR9.e1NlcnZlciBTaWduYXR1cmV9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372600" y="4700520"/>
            <a:ext cx="1126116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array elements can also be in </a:t>
            </a:r>
            <a:r>
              <a:rPr b="1" i="0" lang="pt-B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key:value</a:t>
            </a:r>
            <a:r>
              <a:rPr b="0" i="0" lang="pt-B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format: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902520" y="5253480"/>
            <a:ext cx="10344960" cy="171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iss:[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CN:</a:t>
            </a:r>
            <a:r>
              <a:rPr b="0" i="0" lang="pt-BR" sz="2800" u="none" cap="none" strike="noStrike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spiffe://example.org/workload,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0" i="0" lang="pt-BR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PK:</a:t>
            </a:r>
            <a:r>
              <a:rPr b="0" i="0" lang="pt-BR" sz="2800" u="none" cap="none" strike="noStrike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SXNzdWVyUHVibGljS2V5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"/>
          <p:cNvSpPr/>
          <p:nvPr/>
        </p:nvSpPr>
        <p:spPr>
          <a:xfrm>
            <a:off x="837720" y="41040"/>
            <a:ext cx="10481400" cy="129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Ongoing...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-180000" y="360000"/>
            <a:ext cx="874800" cy="6948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355680" y="1667160"/>
            <a:ext cx="11480400" cy="464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Documentation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1" marL="4320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t-BR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LSVID spec. and use case scenario description under review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1" marL="4320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t-BR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Proof-of-concept documentation updates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Experiments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1" marL="4320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t-BR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Running phase 2 (ID and anonymous mode) benchmarks Presentation with first results next meeting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1" marL="4320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t-BR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Proof-of-concept Phase 3 use case scenario (LSVID and nested model)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"/>
          <p:cNvSpPr/>
          <p:nvPr/>
        </p:nvSpPr>
        <p:spPr>
          <a:xfrm>
            <a:off x="1523880" y="2176560"/>
            <a:ext cx="10444320" cy="1517400"/>
          </a:xfrm>
          <a:prstGeom prst="rect">
            <a:avLst/>
          </a:prstGeom>
          <a:solidFill>
            <a:srgbClr val="F0F5FA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870840" y="154080"/>
            <a:ext cx="11015280" cy="137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PoC 3: LSVID use case scenario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1959120" y="2394360"/>
            <a:ext cx="2170800" cy="1082160"/>
          </a:xfrm>
          <a:prstGeom prst="rect">
            <a:avLst/>
          </a:prstGeom>
          <a:solidFill>
            <a:srgbClr val="BACDD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Subject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9448920" y="2394360"/>
            <a:ext cx="2170800" cy="1082160"/>
          </a:xfrm>
          <a:prstGeom prst="rect">
            <a:avLst/>
          </a:prstGeom>
          <a:solidFill>
            <a:srgbClr val="BACDD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1959120" y="4571280"/>
            <a:ext cx="2170800" cy="1082160"/>
          </a:xfrm>
          <a:prstGeom prst="rect">
            <a:avLst/>
          </a:prstGeom>
          <a:solidFill>
            <a:srgbClr val="BACDD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Asserting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660640" y="4571280"/>
            <a:ext cx="5872320" cy="1082160"/>
          </a:xfrm>
          <a:prstGeom prst="rect">
            <a:avLst/>
          </a:prstGeom>
          <a:solidFill>
            <a:srgbClr val="ADECC3"/>
          </a:solidFill>
          <a:ln cap="flat" cmpd="sng" w="9525">
            <a:solidFill>
              <a:srgbClr val="2E9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SPIRE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" name="Google Shape;223;p6"/>
          <p:cNvGrpSpPr/>
          <p:nvPr/>
        </p:nvGrpSpPr>
        <p:grpSpPr>
          <a:xfrm>
            <a:off x="4143240" y="3267000"/>
            <a:ext cx="3700800" cy="1262160"/>
            <a:chOff x="4143240" y="3267000"/>
            <a:chExt cx="3700800" cy="1262160"/>
          </a:xfrm>
        </p:grpSpPr>
        <p:sp>
          <p:nvSpPr>
            <p:cNvPr id="224" name="Google Shape;224;p6"/>
            <p:cNvSpPr/>
            <p:nvPr/>
          </p:nvSpPr>
          <p:spPr>
            <a:xfrm rot="10800000">
              <a:off x="6756120" y="3533040"/>
              <a:ext cx="1082160" cy="99468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flat" cmpd="sng" w="19075">
              <a:solidFill>
                <a:srgbClr val="C6C6C6"/>
              </a:solidFill>
              <a:prstDash val="lgDash"/>
              <a:round/>
              <a:headEnd len="sm" w="sm" type="none"/>
              <a:tailEnd len="med" w="med" type="triangle"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6"/>
            <p:cNvSpPr/>
            <p:nvPr/>
          </p:nvSpPr>
          <p:spPr>
            <a:xfrm rot="10800000">
              <a:off x="4143240" y="3267000"/>
              <a:ext cx="3700800" cy="126216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flat" cmpd="sng" w="19075">
              <a:solidFill>
                <a:srgbClr val="C6C6C6"/>
              </a:solidFill>
              <a:prstDash val="lgDash"/>
              <a:round/>
              <a:headEnd len="sm" w="sm" type="none"/>
              <a:tailEnd len="med" w="med" type="triangle"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6"/>
          <p:cNvGrpSpPr/>
          <p:nvPr/>
        </p:nvGrpSpPr>
        <p:grpSpPr>
          <a:xfrm>
            <a:off x="3925440" y="3489120"/>
            <a:ext cx="1691640" cy="1648080"/>
            <a:chOff x="3925440" y="3489120"/>
            <a:chExt cx="1691640" cy="1648080"/>
          </a:xfrm>
        </p:grpSpPr>
        <p:sp>
          <p:nvSpPr>
            <p:cNvPr id="227" name="Google Shape;227;p6"/>
            <p:cNvSpPr/>
            <p:nvPr/>
          </p:nvSpPr>
          <p:spPr>
            <a:xfrm rot="10800000">
              <a:off x="4186800" y="5132160"/>
              <a:ext cx="1430280" cy="36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flat" cmpd="sng" w="19075">
              <a:solidFill>
                <a:srgbClr val="C6C6C6"/>
              </a:solidFill>
              <a:prstDash val="lgDash"/>
              <a:round/>
              <a:headEnd len="sm" w="sm" type="none"/>
              <a:tailEnd len="med" w="med" type="triangle"/>
            </a:ln>
          </p:spPr>
          <p:txBody>
            <a:bodyPr anchorCtr="0" anchor="t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6"/>
            <p:cNvSpPr/>
            <p:nvPr/>
          </p:nvSpPr>
          <p:spPr>
            <a:xfrm rot="10800000">
              <a:off x="3925440" y="3489120"/>
              <a:ext cx="1691640" cy="164808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flat" cmpd="sng" w="19075">
              <a:solidFill>
                <a:srgbClr val="C6C6C6"/>
              </a:solidFill>
              <a:prstDash val="lgDash"/>
              <a:round/>
              <a:headEnd len="sm" w="sm" type="none"/>
              <a:tailEnd len="med" w="med" type="triangle"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6"/>
          <p:cNvGrpSpPr/>
          <p:nvPr/>
        </p:nvGrpSpPr>
        <p:grpSpPr>
          <a:xfrm>
            <a:off x="7850520" y="3484440"/>
            <a:ext cx="2680920" cy="1044720"/>
            <a:chOff x="7850520" y="3484440"/>
            <a:chExt cx="2680920" cy="1044720"/>
          </a:xfrm>
        </p:grpSpPr>
        <p:sp>
          <p:nvSpPr>
            <p:cNvPr id="230" name="Google Shape;230;p6"/>
            <p:cNvSpPr/>
            <p:nvPr/>
          </p:nvSpPr>
          <p:spPr>
            <a:xfrm flipH="1" rot="10800000">
              <a:off x="9449280" y="3532680"/>
              <a:ext cx="1082160" cy="995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flat" cmpd="sng" w="19075">
              <a:solidFill>
                <a:srgbClr val="C6C6C6"/>
              </a:solidFill>
              <a:prstDash val="lgDash"/>
              <a:round/>
              <a:headEnd len="sm" w="sm" type="none"/>
              <a:tailEnd len="med" w="med" type="triangle"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6"/>
            <p:cNvSpPr/>
            <p:nvPr/>
          </p:nvSpPr>
          <p:spPr>
            <a:xfrm rot="10800000">
              <a:off x="7850520" y="3484440"/>
              <a:ext cx="1593000" cy="104472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flat" cmpd="sng" w="19075">
              <a:solidFill>
                <a:srgbClr val="C6C6C6"/>
              </a:solidFill>
              <a:prstDash val="lgDash"/>
              <a:round/>
              <a:headEnd len="sm" w="sm" type="none"/>
              <a:tailEnd len="med" w="med" type="triangle"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2" name="Google Shape;232;p6"/>
          <p:cNvSpPr/>
          <p:nvPr/>
        </p:nvSpPr>
        <p:spPr>
          <a:xfrm>
            <a:off x="348480" y="6399720"/>
            <a:ext cx="151740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29150">
            <a:solidFill>
              <a:srgbClr val="4EA044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217440" y="6094800"/>
            <a:ext cx="1735560" cy="646560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800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Notation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4" name="Google Shape;234;p6"/>
          <p:cNvGrpSpPr/>
          <p:nvPr/>
        </p:nvGrpSpPr>
        <p:grpSpPr>
          <a:xfrm>
            <a:off x="1807920" y="3526560"/>
            <a:ext cx="848520" cy="994680"/>
            <a:chOff x="1807920" y="3526560"/>
            <a:chExt cx="848520" cy="994680"/>
          </a:xfrm>
        </p:grpSpPr>
        <p:sp>
          <p:nvSpPr>
            <p:cNvPr id="235" name="Google Shape;235;p6"/>
            <p:cNvSpPr/>
            <p:nvPr/>
          </p:nvSpPr>
          <p:spPr>
            <a:xfrm>
              <a:off x="2656080" y="3526560"/>
              <a:ext cx="360" cy="99468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flat" cmpd="sng" w="29150">
              <a:solidFill>
                <a:srgbClr val="4EA044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50025" lIns="95025" spcFirstLastPara="1" rIns="95025" wrap="square" tIns="50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6" name="Google Shape;236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24880" y="3858120"/>
              <a:ext cx="281520" cy="488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07920" y="3886560"/>
              <a:ext cx="476640" cy="4395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8" name="Google Shape;238;p6"/>
          <p:cNvGrpSpPr/>
          <p:nvPr/>
        </p:nvGrpSpPr>
        <p:grpSpPr>
          <a:xfrm>
            <a:off x="3526560" y="3527280"/>
            <a:ext cx="586800" cy="995040"/>
            <a:chOff x="3526560" y="3527280"/>
            <a:chExt cx="586800" cy="995040"/>
          </a:xfrm>
        </p:grpSpPr>
        <p:sp>
          <p:nvSpPr>
            <p:cNvPr id="239" name="Google Shape;239;p6"/>
            <p:cNvSpPr/>
            <p:nvPr/>
          </p:nvSpPr>
          <p:spPr>
            <a:xfrm rot="10800000">
              <a:off x="3526560" y="3527280"/>
              <a:ext cx="360" cy="99504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flat" cmpd="sng" w="29150">
              <a:solidFill>
                <a:srgbClr val="4EA044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50025" lIns="95025" spcFirstLastPara="1" rIns="95025" wrap="square" tIns="50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0" name="Google Shape;240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657600" y="3886560"/>
              <a:ext cx="455760" cy="4741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1" name="Google Shape;241;p6"/>
          <p:cNvSpPr/>
          <p:nvPr/>
        </p:nvSpPr>
        <p:spPr>
          <a:xfrm>
            <a:off x="4174560" y="2960280"/>
            <a:ext cx="147960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29150">
            <a:solidFill>
              <a:srgbClr val="4EA044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0" lIns="95025" spcFirstLastPara="1" rIns="950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7881480" y="2960280"/>
            <a:ext cx="151740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29150">
            <a:solidFill>
              <a:srgbClr val="4EA044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0" lIns="95025" spcFirstLastPara="1" rIns="950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3" name="Google Shape;243;p6"/>
          <p:cNvGrpSpPr/>
          <p:nvPr/>
        </p:nvGrpSpPr>
        <p:grpSpPr>
          <a:xfrm>
            <a:off x="-115200" y="2061360"/>
            <a:ext cx="2068560" cy="1197360"/>
            <a:chOff x="-115200" y="2061360"/>
            <a:chExt cx="2068560" cy="1197360"/>
          </a:xfrm>
        </p:grpSpPr>
        <p:grpSp>
          <p:nvGrpSpPr>
            <p:cNvPr id="244" name="Google Shape;244;p6"/>
            <p:cNvGrpSpPr/>
            <p:nvPr/>
          </p:nvGrpSpPr>
          <p:grpSpPr>
            <a:xfrm>
              <a:off x="-115200" y="2061360"/>
              <a:ext cx="2068560" cy="1197360"/>
              <a:chOff x="-115200" y="2061360"/>
              <a:chExt cx="2068560" cy="1197360"/>
            </a:xfrm>
          </p:grpSpPr>
          <p:sp>
            <p:nvSpPr>
              <p:cNvPr id="245" name="Google Shape;245;p6"/>
              <p:cNvSpPr/>
              <p:nvPr/>
            </p:nvSpPr>
            <p:spPr>
              <a:xfrm>
                <a:off x="217800" y="2960280"/>
                <a:ext cx="1735560" cy="360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cap="flat" cmpd="sng" w="29150">
                <a:solidFill>
                  <a:srgbClr val="808080"/>
                </a:solidFill>
                <a:prstDash val="lgDash"/>
                <a:round/>
                <a:headEnd len="sm" w="sm" type="none"/>
                <a:tailEnd len="med" w="med" type="triangle"/>
              </a:ln>
            </p:spPr>
            <p:txBody>
              <a:bodyPr anchorCtr="0" anchor="t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46" name="Google Shape;246;p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115200" y="2061360"/>
                <a:ext cx="1197720" cy="119736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47" name="Google Shape;24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914760" y="2444760"/>
              <a:ext cx="281520" cy="4888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8" name="Google Shape;248;p6"/>
          <p:cNvGrpSpPr/>
          <p:nvPr/>
        </p:nvGrpSpPr>
        <p:grpSpPr>
          <a:xfrm>
            <a:off x="2265120" y="1402200"/>
            <a:ext cx="1328400" cy="985680"/>
            <a:chOff x="2265120" y="1402200"/>
            <a:chExt cx="1328400" cy="985680"/>
          </a:xfrm>
        </p:grpSpPr>
        <p:sp>
          <p:nvSpPr>
            <p:cNvPr id="249" name="Google Shape;249;p6"/>
            <p:cNvSpPr/>
            <p:nvPr/>
          </p:nvSpPr>
          <p:spPr>
            <a:xfrm>
              <a:off x="2520000" y="1948680"/>
              <a:ext cx="1073520" cy="439200"/>
            </a:xfrm>
            <a:custGeom>
              <a:rect b="b" l="l" r="r" t="t"/>
              <a:pathLst>
                <a:path extrusionOk="0" h="1652" w="3001">
                  <a:moveTo>
                    <a:pt x="0" y="1651"/>
                  </a:moveTo>
                  <a:cubicBezTo>
                    <a:pt x="0" y="0"/>
                    <a:pt x="3000" y="2"/>
                    <a:pt x="3000" y="1651"/>
                  </a:cubicBezTo>
                </a:path>
              </a:pathLst>
            </a:custGeom>
            <a:noFill/>
            <a:ln cap="flat" cmpd="sng" w="29150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00" lIns="99700" spcFirstLastPara="1" rIns="99700" wrap="square" tIns="54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4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Extend</a:t>
              </a:r>
              <a:br>
                <a:rPr lang="pt-BR" sz="1400"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pt-BR" sz="14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LSVID</a:t>
              </a:r>
              <a:endPara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0" name="Google Shape;250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65120" y="1402200"/>
              <a:ext cx="476640" cy="6537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1" name="Google Shape;251;p6"/>
          <p:cNvGrpSpPr/>
          <p:nvPr/>
        </p:nvGrpSpPr>
        <p:grpSpPr>
          <a:xfrm>
            <a:off x="5943600" y="1402200"/>
            <a:ext cx="1378800" cy="978120"/>
            <a:chOff x="5943600" y="1402200"/>
            <a:chExt cx="1378800" cy="978120"/>
          </a:xfrm>
        </p:grpSpPr>
        <p:sp>
          <p:nvSpPr>
            <p:cNvPr id="252" name="Google Shape;252;p6"/>
            <p:cNvSpPr/>
            <p:nvPr/>
          </p:nvSpPr>
          <p:spPr>
            <a:xfrm>
              <a:off x="6248880" y="1941120"/>
              <a:ext cx="1073520" cy="439200"/>
            </a:xfrm>
            <a:custGeom>
              <a:rect b="b" l="l" r="r" t="t"/>
              <a:pathLst>
                <a:path extrusionOk="0" h="1652" w="3001">
                  <a:moveTo>
                    <a:pt x="0" y="1651"/>
                  </a:moveTo>
                  <a:cubicBezTo>
                    <a:pt x="0" y="0"/>
                    <a:pt x="3000" y="2"/>
                    <a:pt x="3000" y="1651"/>
                  </a:cubicBezTo>
                </a:path>
              </a:pathLst>
            </a:custGeom>
            <a:noFill/>
            <a:ln cap="flat" cmpd="sng" w="29150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00" lIns="99700" spcFirstLastPara="1" rIns="99700" wrap="square" tIns="54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4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Extend</a:t>
              </a:r>
              <a:br>
                <a:rPr lang="pt-BR" sz="1400"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pt-BR" sz="14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LSVID</a:t>
              </a:r>
              <a:endPara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3" name="Google Shape;253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43600" y="1402200"/>
              <a:ext cx="476640" cy="6537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4" name="Google Shape;254;p6"/>
          <p:cNvGrpSpPr/>
          <p:nvPr/>
        </p:nvGrpSpPr>
        <p:grpSpPr>
          <a:xfrm>
            <a:off x="9372600" y="1389600"/>
            <a:ext cx="2018520" cy="947160"/>
            <a:chOff x="9372600" y="1389600"/>
            <a:chExt cx="2018520" cy="947160"/>
          </a:xfrm>
        </p:grpSpPr>
        <p:sp>
          <p:nvSpPr>
            <p:cNvPr id="255" name="Google Shape;255;p6"/>
            <p:cNvSpPr/>
            <p:nvPr/>
          </p:nvSpPr>
          <p:spPr>
            <a:xfrm>
              <a:off x="9812880" y="1828800"/>
              <a:ext cx="1578240" cy="507960"/>
            </a:xfrm>
            <a:custGeom>
              <a:rect b="b" l="l" r="r" t="t"/>
              <a:pathLst>
                <a:path extrusionOk="0" h="1652" w="3001">
                  <a:moveTo>
                    <a:pt x="0" y="1651"/>
                  </a:moveTo>
                  <a:cubicBezTo>
                    <a:pt x="0" y="0"/>
                    <a:pt x="3000" y="2"/>
                    <a:pt x="3000" y="1651"/>
                  </a:cubicBezTo>
                </a:path>
              </a:pathLst>
            </a:custGeom>
            <a:noFill/>
            <a:ln cap="flat" cmpd="sng" w="29150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00" lIns="99700" spcFirstLastPara="1" rIns="99700" wrap="square" tIns="54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4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Validate LSVID</a:t>
              </a:r>
              <a:endPara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6" name="Google Shape;256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372600" y="1389600"/>
              <a:ext cx="476640" cy="6537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7" name="Google Shape;257;p6"/>
          <p:cNvGrpSpPr/>
          <p:nvPr/>
        </p:nvGrpSpPr>
        <p:grpSpPr>
          <a:xfrm>
            <a:off x="2358000" y="5715000"/>
            <a:ext cx="1199520" cy="882720"/>
            <a:chOff x="2358000" y="5715000"/>
            <a:chExt cx="1199520" cy="882720"/>
          </a:xfrm>
        </p:grpSpPr>
        <p:sp>
          <p:nvSpPr>
            <p:cNvPr id="258" name="Google Shape;258;p6"/>
            <p:cNvSpPr/>
            <p:nvPr/>
          </p:nvSpPr>
          <p:spPr>
            <a:xfrm>
              <a:off x="2664000" y="5715000"/>
              <a:ext cx="893520" cy="398520"/>
            </a:xfrm>
            <a:custGeom>
              <a:rect b="b" l="l" r="r" t="t"/>
              <a:pathLst>
                <a:path extrusionOk="0" h="1501" w="2501">
                  <a:moveTo>
                    <a:pt x="0" y="0"/>
                  </a:moveTo>
                  <a:cubicBezTo>
                    <a:pt x="0" y="1500"/>
                    <a:pt x="2500" y="1500"/>
                    <a:pt x="2500" y="0"/>
                  </a:cubicBezTo>
                </a:path>
              </a:pathLst>
            </a:custGeom>
            <a:noFill/>
            <a:ln cap="flat" cmpd="sng" w="29150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700" lIns="99700" spcFirstLastPara="1" rIns="99700" wrap="square" tIns="54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3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Extend LSVID</a:t>
              </a:r>
              <a:endParaRPr b="0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9" name="Google Shape;259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58000" y="6123600"/>
              <a:ext cx="455760" cy="4741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0" name="Google Shape;260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00880" y="5220000"/>
            <a:ext cx="222120" cy="3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6"/>
          <p:cNvSpPr/>
          <p:nvPr/>
        </p:nvSpPr>
        <p:spPr>
          <a:xfrm>
            <a:off x="9900000" y="4608000"/>
            <a:ext cx="1632960" cy="1045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b="0" lang="pt-BR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MTLS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b="0" lang="pt-BR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Keys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b="0" lang="pt-BR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LSVID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648000" y="6400800"/>
            <a:ext cx="930240" cy="3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mTLS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-180000" y="360000"/>
            <a:ext cx="873720" cy="69372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5732640" y="2466360"/>
            <a:ext cx="2170800" cy="1082160"/>
          </a:xfrm>
          <a:prstGeom prst="rect">
            <a:avLst/>
          </a:prstGeom>
          <a:solidFill>
            <a:srgbClr val="355269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Middle-tier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5696640" y="2430360"/>
            <a:ext cx="2170800" cy="1082160"/>
          </a:xfrm>
          <a:prstGeom prst="rect">
            <a:avLst/>
          </a:prstGeom>
          <a:solidFill>
            <a:srgbClr val="306DAD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Middle-tier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5660640" y="2394360"/>
            <a:ext cx="2170800" cy="1082160"/>
          </a:xfrm>
          <a:prstGeom prst="rect">
            <a:avLst/>
          </a:prstGeom>
          <a:solidFill>
            <a:srgbClr val="BACDD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Middle-tier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"/>
          <p:cNvSpPr txBox="1"/>
          <p:nvPr/>
        </p:nvSpPr>
        <p:spPr>
          <a:xfrm>
            <a:off x="6036480" y="6341400"/>
            <a:ext cx="48600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*LSVID extension can use ID or Double mode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9640" y="84960"/>
            <a:ext cx="4289760" cy="4506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cheiro:Hewlett Packard Enterprise logo.svg – Wikipédia, a enciclopédia  livre" id="273" name="Google Shape;27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45400" y="5901840"/>
            <a:ext cx="1923480" cy="780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s | Universidade de São Paulo" id="274" name="Google Shape;27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6600" y="5771880"/>
            <a:ext cx="1523160" cy="113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66480" y="6039720"/>
            <a:ext cx="2816280" cy="602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96520" y="5760000"/>
            <a:ext cx="2988360" cy="94968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7"/>
          <p:cNvSpPr/>
          <p:nvPr/>
        </p:nvSpPr>
        <p:spPr>
          <a:xfrm>
            <a:off x="2890440" y="4954680"/>
            <a:ext cx="6393960" cy="606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2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Thanks!</a:t>
            </a:r>
            <a:endParaRPr b="0" sz="4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"/>
          <p:cNvSpPr/>
          <p:nvPr/>
        </p:nvSpPr>
        <p:spPr>
          <a:xfrm>
            <a:off x="837720" y="41040"/>
            <a:ext cx="10482480" cy="129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claim format type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-180000" y="360000"/>
            <a:ext cx="875880" cy="69588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346320" y="1424520"/>
            <a:ext cx="11705760" cy="82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Identity claims (e.g., issuer, subject, audience, etc.) can embed an LSVID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5" name="Google Shape;285;p8"/>
          <p:cNvGraphicFramePr/>
          <p:nvPr/>
        </p:nvGraphicFramePr>
        <p:xfrm>
          <a:off x="354240" y="2410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{30110C76-D486-4E03-845E-BD895B2B4B92}</a:tableStyleId>
              </a:tblPr>
              <a:tblGrid>
                <a:gridCol w="1574650"/>
                <a:gridCol w="2871000"/>
                <a:gridCol w="7039800"/>
              </a:tblGrid>
              <a:tr h="91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 (type)</a:t>
                      </a:r>
                      <a:endParaRPr b="0" sz="1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0" sz="1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Example</a:t>
                      </a:r>
                      <a:endParaRPr b="0" sz="1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83B0"/>
                    </a:solidFill>
                  </a:tcPr>
                </a:tc>
              </a:tr>
              <a:tr h="91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 (id)</a:t>
                      </a:r>
                      <a:endParaRPr b="0" sz="1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 ID as unique LSVID identifier (e.g. SPIFFE-ID)</a:t>
                      </a:r>
                      <a:endParaRPr b="0" sz="1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r>
                        <a:rPr b="0" lang="pt-BR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:spiffe://example.org/workload</a:t>
                      </a:r>
                      <a:endParaRPr b="0" sz="1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C7DC"/>
                    </a:solidFill>
                  </a:tcPr>
                </a:tc>
              </a:tr>
              <a:tr h="91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public key (pk)</a:t>
                      </a:r>
                      <a:endParaRPr b="0" sz="1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public key, used as the identifier</a:t>
                      </a:r>
                      <a:endParaRPr b="0" sz="1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pk:</a:t>
                      </a:r>
                      <a:r>
                        <a:rPr b="0" lang="pt-BR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SXNzdWVyUHVibGljS2V5</a:t>
                      </a:r>
                      <a:endParaRPr b="0" sz="1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6EF"/>
                    </a:solidFill>
                  </a:tcPr>
                </a:tc>
              </a:tr>
              <a:tr h="91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LSVID (ls)</a:t>
                      </a:r>
                      <a:endParaRPr b="0" sz="1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complete LSVID embedded in the claim</a:t>
                      </a:r>
                      <a:endParaRPr b="0" sz="1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ls:e0xTVklELVBheWxvYWR9.e1NlcnZlciBTaWduYXR1cmV9</a:t>
                      </a:r>
                      <a:endParaRPr b="0" sz="1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C7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"/>
          <p:cNvSpPr/>
          <p:nvPr/>
        </p:nvSpPr>
        <p:spPr>
          <a:xfrm>
            <a:off x="837720" y="41040"/>
            <a:ext cx="10478880" cy="128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Ongoing tasks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342720" y="1143000"/>
            <a:ext cx="11492280" cy="5484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rmAutofit/>
          </a:bodyPr>
          <a:lstStyle/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solidFill>
                  <a:srgbClr val="355269"/>
                </a:solidFill>
                <a:latin typeface="Calibri"/>
                <a:ea typeface="Calibri"/>
                <a:cs typeface="Calibri"/>
                <a:sym typeface="Calibri"/>
              </a:rPr>
              <a:t>Documentation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1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Char char="❍"/>
            </a:pPr>
            <a:r>
              <a:rPr b="0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LSVID spec. and use case scenario description under review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1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Char char="❍"/>
            </a:pPr>
            <a:r>
              <a:rPr b="0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Proof-of-concept documentation updates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solidFill>
                  <a:srgbClr val="355269"/>
                </a:solidFill>
                <a:latin typeface="Calibri"/>
                <a:ea typeface="Calibri"/>
                <a:cs typeface="Calibri"/>
                <a:sym typeface="Calibri"/>
              </a:rPr>
              <a:t>Papers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1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Char char="❍"/>
            </a:pPr>
            <a:r>
              <a:rPr b="0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 and Anonymous mode benchmark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1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Char char="❍"/>
            </a:pPr>
            <a:r>
              <a:rPr b="0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“SchoCo: Schnorr Concatenation”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solidFill>
                  <a:srgbClr val="355269"/>
                </a:solidFill>
                <a:latin typeface="Calibri"/>
                <a:ea typeface="Calibri"/>
                <a:cs typeface="Calibri"/>
                <a:sym typeface="Calibri"/>
              </a:rPr>
              <a:t>Cryptography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1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Char char="❍"/>
            </a:pPr>
            <a:r>
              <a:rPr b="0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ECDSA proof of signature possession  (proof a valid OAuth without revealing it)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1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Char char="❍"/>
            </a:pPr>
            <a:r>
              <a:rPr b="0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Study of signature aggregation schemes and its applications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solidFill>
                  <a:srgbClr val="355269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1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Char char="❍"/>
            </a:pPr>
            <a:r>
              <a:rPr b="0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Integration with Prometheus 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1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Char char="❍"/>
            </a:pPr>
            <a:r>
              <a:rPr b="0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Phase 3 proof-of-concept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-180000" y="360000"/>
            <a:ext cx="872280" cy="69228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"/>
          <p:cNvSpPr/>
          <p:nvPr/>
        </p:nvSpPr>
        <p:spPr>
          <a:xfrm>
            <a:off x="837720" y="41040"/>
            <a:ext cx="10482480" cy="129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mandatory claim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-180000" y="360000"/>
            <a:ext cx="875880" cy="69588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9" name="Google Shape;299;p9"/>
          <p:cNvGraphicFramePr/>
          <p:nvPr/>
        </p:nvGraphicFramePr>
        <p:xfrm>
          <a:off x="4184280" y="2072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{30110C76-D486-4E03-845E-BD895B2B4B92}</a:tableStyleId>
              </a:tblPr>
              <a:tblGrid>
                <a:gridCol w="1613150"/>
                <a:gridCol w="1433525"/>
                <a:gridCol w="4560125"/>
              </a:tblGrid>
              <a:tr h="46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Claim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Format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83B0"/>
                    </a:solidFill>
                  </a:tcPr>
                </a:tc>
              </a:tr>
              <a:tr h="1057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 (ver)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byte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 unique identifier of the LSVID version, containing scheme related informations (e.g., creation, extension)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C7DC"/>
                    </a:solidFill>
                  </a:tcPr>
                </a:tc>
              </a:tr>
              <a:tr h="1057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Algorithm (alg)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 unique algorithm identifier, as defined in JSON Web Algorithms (JWA)[RFC7518]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6EF"/>
                    </a:solidFill>
                  </a:tcPr>
                </a:tc>
              </a:tr>
              <a:tr h="885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Issuer (iss)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 (type.value)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 ID, public key or LSVID, according to adopted scheme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C7DC"/>
                    </a:solidFill>
                  </a:tcPr>
                </a:tc>
              </a:tr>
              <a:tr h="801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Issued at time (iat)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NumericDate value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timestamp that specifies when the token was issued since epoch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6EF"/>
                    </a:solidFill>
                  </a:tcPr>
                </a:tc>
              </a:tr>
            </a:tbl>
          </a:graphicData>
        </a:graphic>
      </p:graphicFrame>
      <p:pic>
        <p:nvPicPr>
          <p:cNvPr id="300" name="Google Shape;3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320" y="2059200"/>
            <a:ext cx="3582360" cy="4330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"/>
          <p:cNvSpPr/>
          <p:nvPr/>
        </p:nvSpPr>
        <p:spPr>
          <a:xfrm>
            <a:off x="837720" y="41040"/>
            <a:ext cx="10482480" cy="129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Trust bundle as a nested token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-180000" y="360000"/>
            <a:ext cx="875880" cy="69588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7666560" y="1980000"/>
            <a:ext cx="3727080" cy="984240"/>
          </a:xfrm>
          <a:prstGeom prst="rect">
            <a:avLst/>
          </a:prstGeom>
          <a:noFill/>
          <a:ln cap="flat" cmpd="sng" w="190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4350" lIns="99350" spcFirstLastPara="1" rIns="99350" wrap="square" tIns="54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SPIRE-Server public key can be retrieved similarly to OIDC /keys endpoint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480" y="3352680"/>
            <a:ext cx="11729520" cy="3019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1"/>
          <p:cNvSpPr/>
          <p:nvPr/>
        </p:nvSpPr>
        <p:spPr>
          <a:xfrm>
            <a:off x="374040" y="1264680"/>
            <a:ext cx="11484360" cy="714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hop in the trust bundle set its LSVID as the issuer and the downstream CA ID/public key as the subject / pbk claims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2021-08-04T11:02:43Z</dcterms:created>
  <dc:creator>Ambrosi, Joao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Widescreen</vt:lpwstr>
  </property>
  <property fmtid="{D5CDD505-2E9C-101B-9397-08002B2CF9AE}" pid="4" name="Slides">
    <vt:i4>6</vt:i4>
  </property>
</Properties>
</file>