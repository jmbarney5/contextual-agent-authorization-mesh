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y="6858000" cx="12193575"/>
  <p:notesSz cx="7559675" cy="10691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8" roundtripDataSignature="AMtx7mixc7rV0rN14nzLERAxZ8T70VZg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E4BEA7-022D-4DA6-A1C4-B7BA53E8FD96}">
  <a:tblStyle styleId="{BDE4BEA7-022D-4DA6-A1C4-B7BA53E8FD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customschemas.google.com/relationships/presentationmetadata" Target="metadata"/><Relationship Id="rId25" Type="http://schemas.openxmlformats.org/officeDocument/2006/relationships/slide" Target="slides/slide19.xml"/><Relationship Id="rId47" Type="http://schemas.openxmlformats.org/officeDocument/2006/relationships/slide" Target="slides/slide41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1e837c6a269_1_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1e837c6a269_1_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1e8358aba69_0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1e8358aba69_0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1e8358aba69_0_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g1e8358aba69_0_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e8358aba69_0_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1e8358aba69_0_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1e8358aba69_0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1e8358aba69_0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e837c6a269_1_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1e837c6a269_1_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e837c6a269_1_1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1e837c6a269_1_1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e920609e4c_0_1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1e920609e4c_0_1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e837c6a269_1_2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1e837c6a269_1_2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88a51ae13b_0_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288a51ae13b_0_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95f31b732d_0_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295f31b732d_0_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e920609e4c_17_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1e920609e4c_17_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88a51ae13b_0_3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88a51ae13b_0_3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95f31b732d_0_4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295f31b732d_0_4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1e920609e4c_17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1e920609e4c_17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95f31b732d_0_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295f31b732d_0_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88a51ae13b_0_2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g288a51ae13b_0_2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95f31b732d_0_9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295f31b732d_0_9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95f31b732d_0_108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295f31b732d_0_108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e920609e4c_17_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1e920609e4c_17_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1e9579d1976_2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g1e9579d1976_2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e9579d1976_2_7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g1e9579d1976_2_7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95f31b732d_0_15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295f31b732d_0_15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95f31b732d_0_16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g295f31b732d_0_16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1e9579d1976_2_2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1e9579d1976_2_2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1e9579d1976_2_112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1e9579d1976_2_112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95f31b732d_0_19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295f31b732d_0_19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95f31b732d_0_20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g295f31b732d_0_20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1e9579d1976_2_120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g1e9579d1976_2_120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e9579d1976_2_12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1e9579d1976_2_12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95f31b732d_0_176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295f31b732d_0_176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95f31b732d_0_183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295f31b732d_0_183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e9579d1976_2_134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g1e9579d1976_2_134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1e9579d1976_2_141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1e9579d1976_2_141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95f31b732d_0_209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295f31b732d_0_209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95f31b732d_0_217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g295f31b732d_0_217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1e92832024c_4_5:notes"/>
          <p:cNvSpPr txBox="1"/>
          <p:nvPr>
            <p:ph idx="1" type="body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1e92832024c_4_5:notes"/>
          <p:cNvSpPr/>
          <p:nvPr>
            <p:ph idx="2" type="sldImg"/>
          </p:nvPr>
        </p:nvSpPr>
        <p:spPr>
          <a:xfrm>
            <a:off x="1260175" y="801875"/>
            <a:ext cx="5040000" cy="4009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38"/>
          <p:cNvSpPr txBox="1"/>
          <p:nvPr>
            <p:ph idx="1"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0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0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0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2"/>
          <p:cNvSpPr txBox="1"/>
          <p:nvPr>
            <p:ph idx="1"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3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3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3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3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4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4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4"/>
          <p:cNvSpPr txBox="1"/>
          <p:nvPr>
            <p:ph idx="3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5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5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45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5"/>
          <p:cNvSpPr txBox="1"/>
          <p:nvPr>
            <p:ph idx="3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6"/>
          <p:cNvSpPr txBox="1"/>
          <p:nvPr>
            <p:ph idx="1"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6"/>
          <p:cNvSpPr txBox="1"/>
          <p:nvPr>
            <p:ph idx="2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7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7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47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7"/>
          <p:cNvSpPr txBox="1"/>
          <p:nvPr>
            <p:ph idx="4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8"/>
          <p:cNvSpPr txBox="1"/>
          <p:nvPr>
            <p:ph idx="1"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2"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8"/>
          <p:cNvSpPr txBox="1"/>
          <p:nvPr>
            <p:ph idx="3"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48"/>
          <p:cNvSpPr txBox="1"/>
          <p:nvPr>
            <p:ph idx="4"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8"/>
          <p:cNvSpPr txBox="1"/>
          <p:nvPr>
            <p:ph idx="5"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8"/>
          <p:cNvSpPr txBox="1"/>
          <p:nvPr>
            <p:ph idx="6"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9"/>
          <p:cNvSpPr txBox="1"/>
          <p:nvPr>
            <p:ph idx="1" type="subTitle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0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0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1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51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51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2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3"/>
          <p:cNvSpPr txBox="1"/>
          <p:nvPr>
            <p:ph idx="1" type="subTitle"/>
          </p:nvPr>
        </p:nvSpPr>
        <p:spPr>
          <a:xfrm>
            <a:off x="609480" y="273600"/>
            <a:ext cx="10973520" cy="5307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4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54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54"/>
          <p:cNvSpPr txBox="1"/>
          <p:nvPr>
            <p:ph idx="2" type="body"/>
          </p:nvPr>
        </p:nvSpPr>
        <p:spPr>
          <a:xfrm>
            <a:off x="62326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4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5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55"/>
          <p:cNvSpPr txBox="1"/>
          <p:nvPr>
            <p:ph idx="1" type="body"/>
          </p:nvPr>
        </p:nvSpPr>
        <p:spPr>
          <a:xfrm>
            <a:off x="609480" y="1604520"/>
            <a:ext cx="535500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5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5"/>
          <p:cNvSpPr txBox="1"/>
          <p:nvPr>
            <p:ph idx="3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56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56"/>
          <p:cNvSpPr txBox="1"/>
          <p:nvPr>
            <p:ph idx="3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7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57"/>
          <p:cNvSpPr txBox="1"/>
          <p:nvPr>
            <p:ph idx="1" type="body"/>
          </p:nvPr>
        </p:nvSpPr>
        <p:spPr>
          <a:xfrm>
            <a:off x="609480" y="160452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57"/>
          <p:cNvSpPr txBox="1"/>
          <p:nvPr>
            <p:ph idx="2" type="body"/>
          </p:nvPr>
        </p:nvSpPr>
        <p:spPr>
          <a:xfrm>
            <a:off x="609480" y="3682080"/>
            <a:ext cx="1097352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8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8"/>
          <p:cNvSpPr txBox="1"/>
          <p:nvPr>
            <p:ph idx="1" type="body"/>
          </p:nvPr>
        </p:nvSpPr>
        <p:spPr>
          <a:xfrm>
            <a:off x="6094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8"/>
          <p:cNvSpPr txBox="1"/>
          <p:nvPr>
            <p:ph idx="2" type="body"/>
          </p:nvPr>
        </p:nvSpPr>
        <p:spPr>
          <a:xfrm>
            <a:off x="6232680" y="160452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58"/>
          <p:cNvSpPr txBox="1"/>
          <p:nvPr>
            <p:ph idx="3" type="body"/>
          </p:nvPr>
        </p:nvSpPr>
        <p:spPr>
          <a:xfrm>
            <a:off x="6094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58"/>
          <p:cNvSpPr txBox="1"/>
          <p:nvPr>
            <p:ph idx="4" type="body"/>
          </p:nvPr>
        </p:nvSpPr>
        <p:spPr>
          <a:xfrm>
            <a:off x="6232680" y="3682080"/>
            <a:ext cx="53550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9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59"/>
          <p:cNvSpPr txBox="1"/>
          <p:nvPr>
            <p:ph idx="1" type="body"/>
          </p:nvPr>
        </p:nvSpPr>
        <p:spPr>
          <a:xfrm>
            <a:off x="60948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59"/>
          <p:cNvSpPr txBox="1"/>
          <p:nvPr>
            <p:ph idx="2" type="body"/>
          </p:nvPr>
        </p:nvSpPr>
        <p:spPr>
          <a:xfrm>
            <a:off x="432000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59"/>
          <p:cNvSpPr txBox="1"/>
          <p:nvPr>
            <p:ph idx="3" type="body"/>
          </p:nvPr>
        </p:nvSpPr>
        <p:spPr>
          <a:xfrm>
            <a:off x="8030520" y="160452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59"/>
          <p:cNvSpPr txBox="1"/>
          <p:nvPr>
            <p:ph idx="4" type="body"/>
          </p:nvPr>
        </p:nvSpPr>
        <p:spPr>
          <a:xfrm>
            <a:off x="60948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59"/>
          <p:cNvSpPr txBox="1"/>
          <p:nvPr>
            <p:ph idx="5" type="body"/>
          </p:nvPr>
        </p:nvSpPr>
        <p:spPr>
          <a:xfrm>
            <a:off x="432000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59"/>
          <p:cNvSpPr txBox="1"/>
          <p:nvPr>
            <p:ph idx="6" type="body"/>
          </p:nvPr>
        </p:nvSpPr>
        <p:spPr>
          <a:xfrm>
            <a:off x="8030520" y="3682080"/>
            <a:ext cx="353340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/>
          <p:nvPr/>
        </p:nvSpPr>
        <p:spPr>
          <a:xfrm>
            <a:off x="11520000" y="6592680"/>
            <a:ext cx="1470600" cy="405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3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24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p24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6"/>
          <p:cNvSpPr/>
          <p:nvPr/>
        </p:nvSpPr>
        <p:spPr>
          <a:xfrm>
            <a:off x="11510280" y="6366960"/>
            <a:ext cx="67716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6"/>
          <p:cNvSpPr txBox="1"/>
          <p:nvPr>
            <p:ph type="title"/>
          </p:nvPr>
        </p:nvSpPr>
        <p:spPr>
          <a:xfrm>
            <a:off x="609480" y="273600"/>
            <a:ext cx="1097352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609480" y="1604520"/>
            <a:ext cx="1097352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1.png"/><Relationship Id="rId7" Type="http://schemas.openxmlformats.org/officeDocument/2006/relationships/image" Target="../media/image7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0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"/>
          <p:cNvSpPr/>
          <p:nvPr/>
        </p:nvSpPr>
        <p:spPr>
          <a:xfrm>
            <a:off x="0" y="3998160"/>
            <a:ext cx="12173760" cy="1621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SPIFFE/SPIRE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pt-BR" sz="2600">
                <a:latin typeface="Calibri"/>
                <a:ea typeface="Calibri"/>
                <a:cs typeface="Calibri"/>
                <a:sym typeface="Calibri"/>
              </a:rPr>
              <a:t>October</a:t>
            </a:r>
            <a:r>
              <a:rPr b="0" i="0" lang="pt-BR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/2023</a:t>
            </a:r>
            <a:endParaRPr b="0" i="0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155160" y="-144360"/>
            <a:ext cx="9171000" cy="270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>
            <a:off x="553680" y="5760000"/>
            <a:ext cx="11064600" cy="1193760"/>
            <a:chOff x="553680" y="5760000"/>
            <a:chExt cx="11064600" cy="1193760"/>
          </a:xfrm>
        </p:grpSpPr>
        <p:pic>
          <p:nvPicPr>
            <p:cNvPr descr="Ficheiro:Hewlett Packard Enterprise logo.svg – Wikipédia, a enciclopédia  livre" id="116" name="Google Shape;116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9637200" y="5914440"/>
              <a:ext cx="1981080" cy="806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Logotipos | Universidade de São Paulo" id="117" name="Google Shape;11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3680" y="5776920"/>
              <a:ext cx="1582200" cy="11768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84400" y="6063840"/>
              <a:ext cx="2909160" cy="6033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999400" y="5760000"/>
              <a:ext cx="3067920" cy="9972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0" name="Google Shape;120;p1"/>
          <p:cNvSpPr/>
          <p:nvPr/>
        </p:nvSpPr>
        <p:spPr>
          <a:xfrm>
            <a:off x="2496600" y="381240"/>
            <a:ext cx="9520200" cy="235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rm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Nested model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1" name="Google Shape;121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000" y="156600"/>
            <a:ext cx="2476800" cy="2742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09560" y="205920"/>
            <a:ext cx="9704520" cy="308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509560" y="2545920"/>
            <a:ext cx="9704520" cy="30852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"/>
          <p:cNvSpPr/>
          <p:nvPr/>
        </p:nvSpPr>
        <p:spPr>
          <a:xfrm>
            <a:off x="0" y="3596400"/>
            <a:ext cx="12192840" cy="54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pt-BR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WG – Assertions and Extensible Tokens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>
            <a:off x="11227125" y="6609125"/>
            <a:ext cx="627600" cy="21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/>
          <p:nvPr/>
        </p:nvSpPr>
        <p:spPr>
          <a:xfrm>
            <a:off x="837720" y="-263760"/>
            <a:ext cx="104961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/>
          <p:nvPr/>
        </p:nvSpPr>
        <p:spPr>
          <a:xfrm>
            <a:off x="-180000" y="55200"/>
            <a:ext cx="889500" cy="7095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685800" y="1371600"/>
            <a:ext cx="10744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-216000" lvl="0" marL="2160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Noto Sans Symbols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Metrics and Objectives</a:t>
            </a:r>
            <a:endParaRPr b="1" i="0" sz="333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6000" lvl="0" marL="216000" marR="0" rtl="0" algn="l">
              <a:lnSpc>
                <a:spcPct val="80000"/>
              </a:lnSpc>
              <a:spcBef>
                <a:spcPts val="7129"/>
              </a:spcBef>
              <a:spcAft>
                <a:spcPts val="0"/>
              </a:spcAft>
              <a:buClr>
                <a:srgbClr val="000000"/>
              </a:buClr>
              <a:buSzPts val="1499"/>
              <a:buFont typeface="Noto Sans Symbols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Tools</a:t>
            </a:r>
            <a:endParaRPr sz="3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6000" lvl="0" marL="216000" rtl="0" algn="l">
              <a:lnSpc>
                <a:spcPct val="80000"/>
              </a:lnSpc>
              <a:spcBef>
                <a:spcPts val="7129"/>
              </a:spcBef>
              <a:spcAft>
                <a:spcPts val="0"/>
              </a:spcAft>
              <a:buClr>
                <a:schemeClr val="dk1"/>
              </a:buClr>
              <a:buSzPts val="1499"/>
              <a:buFont typeface="Noto Sans Symbols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Samples and Test Environment</a:t>
            </a:r>
            <a:endParaRPr sz="3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6000" lvl="0" marL="216000" rtl="0" algn="l">
              <a:lnSpc>
                <a:spcPct val="80000"/>
              </a:lnSpc>
              <a:spcBef>
                <a:spcPts val="7129"/>
              </a:spcBef>
              <a:spcAft>
                <a:spcPts val="0"/>
              </a:spcAft>
              <a:buClr>
                <a:schemeClr val="dk1"/>
              </a:buClr>
              <a:buSzPts val="1499"/>
              <a:buFont typeface="Noto Sans Symbols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ID-mode and Anonymous mode</a:t>
            </a:r>
            <a:endParaRPr sz="3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/>
          <p:cNvSpPr/>
          <p:nvPr/>
        </p:nvSpPr>
        <p:spPr>
          <a:xfrm>
            <a:off x="837720" y="-263760"/>
            <a:ext cx="104961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396000" y="1620000"/>
            <a:ext cx="1150956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Metrics</a:t>
            </a: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6803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Data payload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Runtime</a:t>
            </a:r>
            <a:endParaRPr b="0" i="0" sz="3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Resources (CPU / Memory)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-180000" y="55200"/>
            <a:ext cx="889500" cy="7095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e837c6a269_1_7"/>
          <p:cNvSpPr/>
          <p:nvPr/>
        </p:nvSpPr>
        <p:spPr>
          <a:xfrm>
            <a:off x="837720" y="-263760"/>
            <a:ext cx="104961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1e837c6a269_1_7"/>
          <p:cNvSpPr/>
          <p:nvPr/>
        </p:nvSpPr>
        <p:spPr>
          <a:xfrm>
            <a:off x="342038" y="1346050"/>
            <a:ext cx="1150950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In a broad point-of-view</a:t>
            </a: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6803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Identify and capture data related to the performance and overhead of the nested token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Characterize a behaviour baseline based on experiments with a batch of sequential requests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Estimate the effects of the token extension through the middle-tiers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g1e837c6a269_1_7"/>
          <p:cNvSpPr/>
          <p:nvPr/>
        </p:nvSpPr>
        <p:spPr>
          <a:xfrm>
            <a:off x="-180000" y="55200"/>
            <a:ext cx="889500" cy="7095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e8358aba69_0_0"/>
          <p:cNvSpPr/>
          <p:nvPr/>
        </p:nvSpPr>
        <p:spPr>
          <a:xfrm>
            <a:off x="837720" y="-263760"/>
            <a:ext cx="104961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1e8358aba69_0_0"/>
          <p:cNvSpPr/>
          <p:nvPr/>
        </p:nvSpPr>
        <p:spPr>
          <a:xfrm>
            <a:off x="396000" y="1620000"/>
            <a:ext cx="1150950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Data Payload</a:t>
            </a: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 Assertions Size (Delta / Tiers)</a:t>
            </a:r>
            <a:endParaRPr b="0" i="0" sz="3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Certificates Size (SVIDs) </a:t>
            </a:r>
            <a:endParaRPr sz="3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0055" lvl="0" marL="45720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Signature Size (Schnorr / ECDSA)</a:t>
            </a:r>
            <a:endParaRPr sz="33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1e8358aba69_0_0"/>
          <p:cNvSpPr/>
          <p:nvPr/>
        </p:nvSpPr>
        <p:spPr>
          <a:xfrm>
            <a:off x="-180000" y="55200"/>
            <a:ext cx="889500" cy="7095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e8358aba69_0_6"/>
          <p:cNvSpPr/>
          <p:nvPr/>
        </p:nvSpPr>
        <p:spPr>
          <a:xfrm>
            <a:off x="837720" y="-263760"/>
            <a:ext cx="104961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1e8358aba69_0_6"/>
          <p:cNvSpPr/>
          <p:nvPr/>
        </p:nvSpPr>
        <p:spPr>
          <a:xfrm>
            <a:off x="396000" y="1620000"/>
            <a:ext cx="1150950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Runtime</a:t>
            </a:r>
            <a:r>
              <a:rPr b="0" i="0" lang="pt-BR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Token mint and nesting time</a:t>
            </a:r>
            <a:endParaRPr b="0" i="0" sz="333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Char char="●"/>
            </a:pP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Token validation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1e8358aba69_0_6"/>
          <p:cNvSpPr/>
          <p:nvPr/>
        </p:nvSpPr>
        <p:spPr>
          <a:xfrm>
            <a:off x="-180000" y="55200"/>
            <a:ext cx="889500" cy="7095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e8358aba69_0_12"/>
          <p:cNvSpPr/>
          <p:nvPr/>
        </p:nvSpPr>
        <p:spPr>
          <a:xfrm>
            <a:off x="837720" y="-263760"/>
            <a:ext cx="10496100" cy="13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Metrics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g1e8358aba69_0_12"/>
          <p:cNvSpPr/>
          <p:nvPr/>
        </p:nvSpPr>
        <p:spPr>
          <a:xfrm>
            <a:off x="396000" y="1620000"/>
            <a:ext cx="11509500" cy="48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latin typeface="Calibri"/>
                <a:ea typeface="Calibri"/>
                <a:cs typeface="Calibri"/>
                <a:sym typeface="Calibri"/>
              </a:rPr>
              <a:t>Resources: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6803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CPU </a:t>
            </a:r>
            <a:r>
              <a:rPr lang="pt-BR" sz="333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consumption in percentage</a:t>
            </a: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  <a:p>
            <a:pPr indent="-211455" lvl="0" marL="216000" marR="0" rtl="0" algn="l">
              <a:lnSpc>
                <a:spcPct val="80000"/>
              </a:lnSpc>
              <a:spcBef>
                <a:spcPts val="5669"/>
              </a:spcBef>
              <a:spcAft>
                <a:spcPts val="0"/>
              </a:spcAft>
              <a:buClr>
                <a:srgbClr val="158466"/>
              </a:buClr>
              <a:buSzPts val="3330"/>
              <a:buFont typeface="Arial"/>
              <a:buChar char="●"/>
            </a:pPr>
            <a:r>
              <a:rPr lang="pt-BR" sz="3330">
                <a:latin typeface="Calibri"/>
                <a:ea typeface="Calibri"/>
                <a:cs typeface="Calibri"/>
                <a:sym typeface="Calibri"/>
              </a:rPr>
              <a:t> Memory consumption in MB</a:t>
            </a:r>
            <a:endParaRPr sz="33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1e8358aba69_0_12"/>
          <p:cNvSpPr/>
          <p:nvPr/>
        </p:nvSpPr>
        <p:spPr>
          <a:xfrm>
            <a:off x="-180000" y="55200"/>
            <a:ext cx="889500" cy="7095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1e8358aba69_0_24"/>
          <p:cNvSpPr/>
          <p:nvPr/>
        </p:nvSpPr>
        <p:spPr>
          <a:xfrm>
            <a:off x="837720" y="-263760"/>
            <a:ext cx="104814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Prometheus + PoC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g1e8358aba69_0_24"/>
          <p:cNvSpPr/>
          <p:nvPr/>
        </p:nvSpPr>
        <p:spPr>
          <a:xfrm>
            <a:off x="-180000" y="552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g1e8358aba69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811" y="1331350"/>
            <a:ext cx="2577914" cy="114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1e8358aba69_0_24"/>
          <p:cNvSpPr/>
          <p:nvPr/>
        </p:nvSpPr>
        <p:spPr>
          <a:xfrm>
            <a:off x="355680" y="1667160"/>
            <a:ext cx="114804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Open-source monitoring tool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GoLang Client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50ms scrapes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PoC: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Metrics collection instrument integrated on the PoC code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Directly measuring the requests on the APIs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1e837c6a269_1_0"/>
          <p:cNvSpPr/>
          <p:nvPr/>
        </p:nvSpPr>
        <p:spPr>
          <a:xfrm>
            <a:off x="837720" y="-263760"/>
            <a:ext cx="104814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Apache JMeter</a:t>
            </a: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 + Rstudio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1e837c6a269_1_0"/>
          <p:cNvSpPr/>
          <p:nvPr/>
        </p:nvSpPr>
        <p:spPr>
          <a:xfrm>
            <a:off x="-180000" y="552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1e837c6a269_1_0"/>
          <p:cNvSpPr/>
          <p:nvPr/>
        </p:nvSpPr>
        <p:spPr>
          <a:xfrm>
            <a:off x="355680" y="1667160"/>
            <a:ext cx="114804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Open-source tool for load test functional behavior and measure performance on web apps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Sequential requests (one every 6 seconds)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Easy way to test stress load on the app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IDE for processing the collected data using 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g1e837c6a26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95" y="1331350"/>
            <a:ext cx="2220550" cy="75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1e837c6a269_1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800" y="4675450"/>
            <a:ext cx="2220549" cy="7795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e837c6a269_1_13"/>
          <p:cNvSpPr/>
          <p:nvPr/>
        </p:nvSpPr>
        <p:spPr>
          <a:xfrm>
            <a:off x="837720" y="-263760"/>
            <a:ext cx="104814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Test Environment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1e837c6a269_1_13"/>
          <p:cNvSpPr/>
          <p:nvPr/>
        </p:nvSpPr>
        <p:spPr>
          <a:xfrm>
            <a:off x="-180000" y="552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e837c6a269_1_13"/>
          <p:cNvSpPr/>
          <p:nvPr/>
        </p:nvSpPr>
        <p:spPr>
          <a:xfrm>
            <a:off x="355680" y="1667160"/>
            <a:ext cx="114804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Ubuntu </a:t>
            </a: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Server - 06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Ubuntu 20.04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Processor: Intel(R) Core(TM) i7-4770 CPU @ 3.40GHz - 8 cores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memory: 32 GB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container with 1vCPU and 128MB of RAM memory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Ubuntu Server - 04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Processor: Intel(R) Xeon(R) CPU E5-2620 @ 2.00GHz - 24 cores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RAM memory: 192 GB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1e837c6a269_1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14575" y="55200"/>
            <a:ext cx="2618401" cy="261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e920609e4c_0_15"/>
          <p:cNvSpPr/>
          <p:nvPr/>
        </p:nvSpPr>
        <p:spPr>
          <a:xfrm>
            <a:off x="837720" y="-263760"/>
            <a:ext cx="104814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Test Environment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1e920609e4c_0_15"/>
          <p:cNvSpPr/>
          <p:nvPr/>
        </p:nvSpPr>
        <p:spPr>
          <a:xfrm>
            <a:off x="-180000" y="552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1e920609e4c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7272" y="1442725"/>
            <a:ext cx="8202303" cy="463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e837c6a269_1_23"/>
          <p:cNvSpPr/>
          <p:nvPr/>
        </p:nvSpPr>
        <p:spPr>
          <a:xfrm>
            <a:off x="837720" y="-263760"/>
            <a:ext cx="10481400" cy="129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1e837c6a269_1_23"/>
          <p:cNvSpPr/>
          <p:nvPr/>
        </p:nvSpPr>
        <p:spPr>
          <a:xfrm>
            <a:off x="-180000" y="55200"/>
            <a:ext cx="874800" cy="6948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1e837c6a269_1_23"/>
          <p:cNvSpPr/>
          <p:nvPr/>
        </p:nvSpPr>
        <p:spPr>
          <a:xfrm>
            <a:off x="204193" y="932735"/>
            <a:ext cx="114804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Proof of concept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Automated requests with JMeter</a:t>
            </a:r>
            <a:endParaRPr b="0" i="0" sz="3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99" lvl="1" marL="431999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lang="pt-BR" sz="3200">
                <a:latin typeface="Calibri"/>
                <a:ea typeface="Calibri"/>
                <a:cs typeface="Calibri"/>
                <a:sym typeface="Calibri"/>
              </a:rPr>
              <a:t>The test was conducted with: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320039" lvl="2" marL="13716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■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Both PoC models with 5 middle-tiers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39" lvl="2" marL="13716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■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requests warm-up for cache prior to the tests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39" lvl="2" marL="13716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■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100 requests in a 10 minute period (batch of 10 tests with 10 requests - 1 every 6 seconds)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0040" lvl="0" marL="457200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Information captured every 50ms through Prometheus API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88a51ae13b_0_1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 - Payload - Both machines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g288a51ae13b_0_1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288a51ae13b_0_1"/>
          <p:cNvSpPr/>
          <p:nvPr/>
        </p:nvSpPr>
        <p:spPr>
          <a:xfrm>
            <a:off x="185530" y="879460"/>
            <a:ext cx="114804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Assertion Growth (Bytes)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ID-Mode - SVIDs Certificates Size (Bytes)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g288a51ae13b_0_1"/>
          <p:cNvGraphicFramePr/>
          <p:nvPr/>
        </p:nvGraphicFramePr>
        <p:xfrm>
          <a:off x="424913" y="1456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2051900"/>
                <a:gridCol w="1534000"/>
                <a:gridCol w="1331900"/>
                <a:gridCol w="1278550"/>
                <a:gridCol w="1514950"/>
                <a:gridCol w="1514950"/>
                <a:gridCol w="1514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M-tier1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M-tier4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ID-Mode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570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799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1030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1261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1492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1720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Growth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-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+229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+231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+231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+231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+228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9EAD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AnonMode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346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538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731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924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1117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1310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Growth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-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+192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+193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+193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+193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+193</a:t>
                      </a:r>
                      <a:endParaRPr b="1" sz="2000"/>
                    </a:p>
                  </a:txBody>
                  <a:tcPr marT="91425" marB="91425" marR="91425" marL="91425">
                    <a:solidFill>
                      <a:srgbClr val="D0E0E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" name="Google Shape;215;g288a51ae13b_0_1"/>
          <p:cNvGraphicFramePr/>
          <p:nvPr/>
        </p:nvGraphicFramePr>
        <p:xfrm>
          <a:off x="337088" y="4923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541050"/>
                <a:gridCol w="1110525"/>
                <a:gridCol w="1084950"/>
                <a:gridCol w="1264875"/>
                <a:gridCol w="1264875"/>
                <a:gridCol w="1264875"/>
                <a:gridCol w="1264875"/>
                <a:gridCol w="1264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M-tier4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M-tier5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Target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SVIDs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781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1558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2339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3120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3901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4682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5463</a:t>
                      </a:r>
                      <a:endParaRPr b="1" sz="20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95f31b732d_0_9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295f31b732d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9162" y="61988"/>
            <a:ext cx="7838977" cy="6734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g295f31b732d_0_9"/>
          <p:cNvSpPr/>
          <p:nvPr/>
        </p:nvSpPr>
        <p:spPr>
          <a:xfrm>
            <a:off x="262263" y="749400"/>
            <a:ext cx="3023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35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5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295f31b732d_0_9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1e920609e4c_17_17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1e920609e4c_17_17"/>
          <p:cNvSpPr/>
          <p:nvPr/>
        </p:nvSpPr>
        <p:spPr>
          <a:xfrm>
            <a:off x="262263" y="749400"/>
            <a:ext cx="3023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5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35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5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Xeon E5-2620</a:t>
            </a:r>
            <a:endParaRPr sz="35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1e920609e4c_17_17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" name="Google Shape;231;g1e920609e4c_17_17"/>
          <p:cNvPicPr preferRelativeResize="0"/>
          <p:nvPr/>
        </p:nvPicPr>
        <p:blipFill rotWithShape="1">
          <a:blip r:embed="rId3">
            <a:alphaModFix/>
          </a:blip>
          <a:srcRect b="0" l="0" r="0" t="1088"/>
          <a:stretch/>
        </p:blipFill>
        <p:spPr>
          <a:xfrm>
            <a:off x="3142500" y="223425"/>
            <a:ext cx="7825148" cy="6634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6" name="Google Shape;236;g288a51ae13b_0_35"/>
          <p:cNvGraphicFramePr/>
          <p:nvPr/>
        </p:nvGraphicFramePr>
        <p:xfrm>
          <a:off x="186238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473575"/>
                <a:gridCol w="215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Workload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Mean (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µs)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101.51 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11.74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107.09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57.39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116.80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77.04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110.63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29.86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109.90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31.17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109.96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11.74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7" name="Google Shape;237;g288a51ae13b_0_35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288a51ae13b_0_35"/>
          <p:cNvSpPr/>
          <p:nvPr/>
        </p:nvSpPr>
        <p:spPr>
          <a:xfrm>
            <a:off x="186150" y="905150"/>
            <a:ext cx="36264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ID-Mode token mint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g288a51ae13b_0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0575" y="304800"/>
            <a:ext cx="7560801" cy="6528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288a51ae13b_0_35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g295f31b732d_0_46"/>
          <p:cNvGraphicFramePr/>
          <p:nvPr/>
        </p:nvGraphicFramePr>
        <p:xfrm>
          <a:off x="186238" y="2133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473575"/>
                <a:gridCol w="215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Workload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Mean (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µs)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217.85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347.56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187.26 ∓ 34.39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189.86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41.57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189.69 ∓ 36.34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188.54 ∓ 36.60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196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.26 ∓ 38.60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46" name="Google Shape;246;g295f31b732d_0_46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295f31b732d_0_46"/>
          <p:cNvSpPr/>
          <p:nvPr/>
        </p:nvSpPr>
        <p:spPr>
          <a:xfrm>
            <a:off x="186150" y="905150"/>
            <a:ext cx="36264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ID-Mode token mint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Xeon E5-2620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295f31b732d_0_46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9" name="Google Shape;249;g295f31b732d_0_46"/>
          <p:cNvPicPr preferRelativeResize="0"/>
          <p:nvPr/>
        </p:nvPicPr>
        <p:blipFill rotWithShape="1">
          <a:blip r:embed="rId3">
            <a:alphaModFix/>
          </a:blip>
          <a:srcRect b="1845" l="0" r="0" t="0"/>
          <a:stretch/>
        </p:blipFill>
        <p:spPr>
          <a:xfrm>
            <a:off x="4258125" y="532325"/>
            <a:ext cx="7226825" cy="608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1e920609e4c_17_25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g1e920609e4c_17_25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g1e920609e4c_17_25"/>
          <p:cNvSpPr/>
          <p:nvPr/>
        </p:nvSpPr>
        <p:spPr>
          <a:xfrm>
            <a:off x="120550" y="877300"/>
            <a:ext cx="48315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ID-Mode token validation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g1e920609e4c_17_25"/>
          <p:cNvGraphicFramePr/>
          <p:nvPr/>
        </p:nvGraphicFramePr>
        <p:xfrm>
          <a:off x="120538" y="201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714650"/>
                <a:gridCol w="2233950"/>
              </a:tblGrid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Workload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Mean (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µs)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189.74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33.91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425.97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86.24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688.07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307.89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913.03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403.99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1122.37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456.01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1340.49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381.92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target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1618.77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642.68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58" name="Google Shape;258;g1e920609e4c_17_25"/>
          <p:cNvSpPr/>
          <p:nvPr/>
        </p:nvSpPr>
        <p:spPr>
          <a:xfrm>
            <a:off x="4162672" y="30600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1e920609e4c_17_25"/>
          <p:cNvSpPr txBox="1"/>
          <p:nvPr/>
        </p:nvSpPr>
        <p:spPr>
          <a:xfrm>
            <a:off x="4472575" y="30411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</a:t>
            </a:r>
            <a:r>
              <a:rPr b="1" lang="pt-BR" sz="1300">
                <a:solidFill>
                  <a:schemeClr val="dk1"/>
                </a:solidFill>
              </a:rPr>
              <a:t>236</a:t>
            </a:r>
            <a:endParaRPr sz="700"/>
          </a:p>
        </p:txBody>
      </p:sp>
      <p:pic>
        <p:nvPicPr>
          <p:cNvPr id="260" name="Google Shape;260;g1e920609e4c_17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975" y="588600"/>
            <a:ext cx="7071751" cy="6106274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1e920609e4c_17_25"/>
          <p:cNvSpPr/>
          <p:nvPr/>
        </p:nvSpPr>
        <p:spPr>
          <a:xfrm>
            <a:off x="4162672" y="35172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1e920609e4c_17_25"/>
          <p:cNvSpPr/>
          <p:nvPr/>
        </p:nvSpPr>
        <p:spPr>
          <a:xfrm>
            <a:off x="4162672" y="39744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g1e920609e4c_17_25"/>
          <p:cNvSpPr/>
          <p:nvPr/>
        </p:nvSpPr>
        <p:spPr>
          <a:xfrm>
            <a:off x="4162672" y="45078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1e920609e4c_17_25"/>
          <p:cNvSpPr/>
          <p:nvPr/>
        </p:nvSpPr>
        <p:spPr>
          <a:xfrm>
            <a:off x="4162672" y="49650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1e920609e4c_17_25"/>
          <p:cNvSpPr/>
          <p:nvPr/>
        </p:nvSpPr>
        <p:spPr>
          <a:xfrm>
            <a:off x="4162672" y="5461025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1e920609e4c_17_25"/>
          <p:cNvSpPr txBox="1"/>
          <p:nvPr/>
        </p:nvSpPr>
        <p:spPr>
          <a:xfrm>
            <a:off x="4472575" y="34983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+262</a:t>
            </a:r>
            <a:endParaRPr sz="700"/>
          </a:p>
        </p:txBody>
      </p:sp>
      <p:sp>
        <p:nvSpPr>
          <p:cNvPr id="267" name="Google Shape;267;g1e920609e4c_17_25"/>
          <p:cNvSpPr txBox="1"/>
          <p:nvPr/>
        </p:nvSpPr>
        <p:spPr>
          <a:xfrm>
            <a:off x="4472575" y="39555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+225</a:t>
            </a:r>
            <a:endParaRPr sz="700"/>
          </a:p>
        </p:txBody>
      </p:sp>
      <p:sp>
        <p:nvSpPr>
          <p:cNvPr id="268" name="Google Shape;268;g1e920609e4c_17_25"/>
          <p:cNvSpPr txBox="1"/>
          <p:nvPr/>
        </p:nvSpPr>
        <p:spPr>
          <a:xfrm>
            <a:off x="4472575" y="44889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+209</a:t>
            </a:r>
            <a:endParaRPr sz="700"/>
          </a:p>
        </p:txBody>
      </p:sp>
      <p:sp>
        <p:nvSpPr>
          <p:cNvPr id="269" name="Google Shape;269;g1e920609e4c_17_25"/>
          <p:cNvSpPr txBox="1"/>
          <p:nvPr/>
        </p:nvSpPr>
        <p:spPr>
          <a:xfrm>
            <a:off x="4472575" y="49461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+218</a:t>
            </a:r>
            <a:endParaRPr sz="700"/>
          </a:p>
        </p:txBody>
      </p:sp>
      <p:sp>
        <p:nvSpPr>
          <p:cNvPr id="270" name="Google Shape;270;g1e920609e4c_17_25"/>
          <p:cNvSpPr txBox="1"/>
          <p:nvPr/>
        </p:nvSpPr>
        <p:spPr>
          <a:xfrm>
            <a:off x="4472575" y="54033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+279</a:t>
            </a:r>
            <a:endParaRPr sz="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95f31b732d_0_76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95f31b732d_0_76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g295f31b732d_0_76"/>
          <p:cNvSpPr/>
          <p:nvPr/>
        </p:nvSpPr>
        <p:spPr>
          <a:xfrm>
            <a:off x="120550" y="877300"/>
            <a:ext cx="4831500" cy="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ID-Mode token validation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Xeon E5-2620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g295f31b732d_0_76"/>
          <p:cNvGraphicFramePr/>
          <p:nvPr/>
        </p:nvGraphicFramePr>
        <p:xfrm>
          <a:off x="120538" y="201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714650"/>
                <a:gridCol w="2233950"/>
              </a:tblGrid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Workload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Mean (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µs)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351.23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84.56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708.39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166.30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1067.33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195.27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1482.79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352.94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1800.60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376.99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2209.10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466.36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4819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target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2554.14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472.53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79" name="Google Shape;279;g295f31b732d_0_76"/>
          <p:cNvSpPr/>
          <p:nvPr/>
        </p:nvSpPr>
        <p:spPr>
          <a:xfrm>
            <a:off x="4162672" y="30600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295f31b732d_0_76"/>
          <p:cNvSpPr txBox="1"/>
          <p:nvPr/>
        </p:nvSpPr>
        <p:spPr>
          <a:xfrm>
            <a:off x="4472575" y="30411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</a:t>
            </a:r>
            <a:r>
              <a:rPr b="1" lang="pt-BR" sz="1300">
                <a:solidFill>
                  <a:schemeClr val="dk1"/>
                </a:solidFill>
              </a:rPr>
              <a:t>357</a:t>
            </a:r>
            <a:endParaRPr sz="700"/>
          </a:p>
        </p:txBody>
      </p:sp>
      <p:sp>
        <p:nvSpPr>
          <p:cNvPr id="281" name="Google Shape;281;g295f31b732d_0_76"/>
          <p:cNvSpPr/>
          <p:nvPr/>
        </p:nvSpPr>
        <p:spPr>
          <a:xfrm>
            <a:off x="4162672" y="35172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g295f31b732d_0_76"/>
          <p:cNvSpPr/>
          <p:nvPr/>
        </p:nvSpPr>
        <p:spPr>
          <a:xfrm>
            <a:off x="4162672" y="39744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295f31b732d_0_76"/>
          <p:cNvSpPr/>
          <p:nvPr/>
        </p:nvSpPr>
        <p:spPr>
          <a:xfrm>
            <a:off x="4162672" y="45078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295f31b732d_0_76"/>
          <p:cNvSpPr/>
          <p:nvPr/>
        </p:nvSpPr>
        <p:spPr>
          <a:xfrm>
            <a:off x="4162672" y="4965000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g295f31b732d_0_76"/>
          <p:cNvSpPr/>
          <p:nvPr/>
        </p:nvSpPr>
        <p:spPr>
          <a:xfrm>
            <a:off x="4162672" y="5461025"/>
            <a:ext cx="309900" cy="371400"/>
          </a:xfrm>
          <a:prstGeom prst="curvedLeftArrow">
            <a:avLst>
              <a:gd fmla="val 25000" name="adj1"/>
              <a:gd fmla="val 43510" name="adj2"/>
              <a:gd fmla="val 25000" name="adj3"/>
            </a:avLst>
          </a:prstGeom>
          <a:solidFill>
            <a:srgbClr val="F4CCCC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295f31b732d_0_76"/>
          <p:cNvSpPr txBox="1"/>
          <p:nvPr/>
        </p:nvSpPr>
        <p:spPr>
          <a:xfrm>
            <a:off x="4472575" y="34983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</a:t>
            </a:r>
            <a:r>
              <a:rPr b="1" lang="pt-BR" sz="1300">
                <a:solidFill>
                  <a:schemeClr val="dk1"/>
                </a:solidFill>
              </a:rPr>
              <a:t>358</a:t>
            </a:r>
            <a:endParaRPr sz="700"/>
          </a:p>
        </p:txBody>
      </p:sp>
      <p:sp>
        <p:nvSpPr>
          <p:cNvPr id="287" name="Google Shape;287;g295f31b732d_0_76"/>
          <p:cNvSpPr txBox="1"/>
          <p:nvPr/>
        </p:nvSpPr>
        <p:spPr>
          <a:xfrm>
            <a:off x="4472575" y="39555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+415</a:t>
            </a:r>
            <a:endParaRPr sz="700"/>
          </a:p>
        </p:txBody>
      </p:sp>
      <p:sp>
        <p:nvSpPr>
          <p:cNvPr id="288" name="Google Shape;288;g295f31b732d_0_76"/>
          <p:cNvSpPr txBox="1"/>
          <p:nvPr/>
        </p:nvSpPr>
        <p:spPr>
          <a:xfrm>
            <a:off x="4472575" y="44889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+317</a:t>
            </a:r>
            <a:endParaRPr sz="700"/>
          </a:p>
        </p:txBody>
      </p:sp>
      <p:sp>
        <p:nvSpPr>
          <p:cNvPr id="289" name="Google Shape;289;g295f31b732d_0_76"/>
          <p:cNvSpPr txBox="1"/>
          <p:nvPr/>
        </p:nvSpPr>
        <p:spPr>
          <a:xfrm>
            <a:off x="4472575" y="49461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+408</a:t>
            </a:r>
            <a:endParaRPr sz="700"/>
          </a:p>
        </p:txBody>
      </p:sp>
      <p:sp>
        <p:nvSpPr>
          <p:cNvPr id="290" name="Google Shape;290;g295f31b732d_0_76"/>
          <p:cNvSpPr txBox="1"/>
          <p:nvPr/>
        </p:nvSpPr>
        <p:spPr>
          <a:xfrm>
            <a:off x="4472575" y="5403350"/>
            <a:ext cx="66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chemeClr val="dk1"/>
                </a:solidFill>
              </a:rPr>
              <a:t>+345</a:t>
            </a:r>
            <a:endParaRPr sz="700"/>
          </a:p>
        </p:txBody>
      </p:sp>
      <p:pic>
        <p:nvPicPr>
          <p:cNvPr id="291" name="Google Shape;291;g295f31b732d_0_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2575" y="628775"/>
            <a:ext cx="6810300" cy="58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288a51ae13b_0_25"/>
          <p:cNvPicPr preferRelativeResize="0"/>
          <p:nvPr/>
        </p:nvPicPr>
        <p:blipFill rotWithShape="1">
          <a:blip r:embed="rId3">
            <a:alphaModFix/>
          </a:blip>
          <a:srcRect b="0" l="0" r="0" t="1088"/>
          <a:stretch/>
        </p:blipFill>
        <p:spPr>
          <a:xfrm>
            <a:off x="4153000" y="464925"/>
            <a:ext cx="7435751" cy="635069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288a51ae13b_0_25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288a51ae13b_0_25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9" name="Google Shape;299;g288a51ae13b_0_25"/>
          <p:cNvGraphicFramePr/>
          <p:nvPr/>
        </p:nvGraphicFramePr>
        <p:xfrm>
          <a:off x="394588" y="207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473575"/>
                <a:gridCol w="21324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Workload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Mean (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µs)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702.86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</a:t>
                      </a:r>
                      <a:r>
                        <a:rPr b="1" lang="pt-BR" sz="2000"/>
                        <a:t>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796.99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648.13 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∓ 179.22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673.31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507.93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652.32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144.94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710.90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688.04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633.17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167.44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0" name="Google Shape;300;g288a51ae13b_0_25"/>
          <p:cNvSpPr/>
          <p:nvPr/>
        </p:nvSpPr>
        <p:spPr>
          <a:xfrm>
            <a:off x="44350" y="805325"/>
            <a:ext cx="4306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Anon-Mode token mint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295f31b732d_0_98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g295f31b732d_0_98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7" name="Google Shape;307;g295f31b732d_0_98"/>
          <p:cNvGraphicFramePr/>
          <p:nvPr/>
        </p:nvGraphicFramePr>
        <p:xfrm>
          <a:off x="394588" y="2075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{BDE4BEA7-022D-4DA6-A1C4-B7BA53E8FD96}</a:tableStyleId>
              </a:tblPr>
              <a:tblGrid>
                <a:gridCol w="1583000"/>
                <a:gridCol w="2290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Workload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Mean (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µs)</a:t>
                      </a:r>
                      <a:endParaRPr b="1" sz="20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subject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1007.86 ∓ 249.23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992.66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234.94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m-tier2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1015.00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246.85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m-tier3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995.63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234.02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m-tier4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1030.39</a:t>
                      </a: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 ∓ 325.15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2000"/>
                        <a:t>m-tier5</a:t>
                      </a:r>
                      <a:endParaRPr b="1"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pt-BR" sz="2000">
                          <a:solidFill>
                            <a:schemeClr val="dk1"/>
                          </a:solidFill>
                        </a:rPr>
                        <a:t>1039.24 ∓ 302.70</a:t>
                      </a:r>
                      <a:endParaRPr b="1" sz="2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08" name="Google Shape;308;g295f31b732d_0_98"/>
          <p:cNvSpPr/>
          <p:nvPr/>
        </p:nvSpPr>
        <p:spPr>
          <a:xfrm>
            <a:off x="44350" y="805325"/>
            <a:ext cx="43065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Anon-Mode token mint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Xeon E5-2620</a:t>
            </a:r>
            <a:endParaRPr sz="32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9" name="Google Shape;309;g295f31b732d_0_98"/>
          <p:cNvPicPr preferRelativeResize="0"/>
          <p:nvPr/>
        </p:nvPicPr>
        <p:blipFill rotWithShape="1">
          <a:blip r:embed="rId3">
            <a:alphaModFix/>
          </a:blip>
          <a:srcRect b="0" l="1097" r="0" t="0"/>
          <a:stretch/>
        </p:blipFill>
        <p:spPr>
          <a:xfrm>
            <a:off x="4670925" y="749400"/>
            <a:ext cx="6849775" cy="593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g295f31b732d_0_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3525" y="55200"/>
            <a:ext cx="7273849" cy="6280798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95f31b732d_0_108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95f31b732d_0_108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295f31b732d_0_108"/>
          <p:cNvSpPr/>
          <p:nvPr/>
        </p:nvSpPr>
        <p:spPr>
          <a:xfrm>
            <a:off x="127075" y="905150"/>
            <a:ext cx="47925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Anon-Mode token validation</a:t>
            </a:r>
            <a:endParaRPr sz="31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1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94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Noto Sans Symbols"/>
              <a:buChar char="●"/>
            </a:pP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validation scheme of anonymous-mode using galindo-garcia had a mean value of </a:t>
            </a:r>
            <a:r>
              <a:rPr b="1"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2.842 milliseconds</a:t>
            </a: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standard deviation of </a:t>
            </a:r>
            <a:r>
              <a:rPr b="1"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624.57 µs</a:t>
            </a: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9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1e920609e4c_17_41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g1e920609e4c_17_41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 - Runtime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g1e920609e4c_17_41"/>
          <p:cNvSpPr/>
          <p:nvPr/>
        </p:nvSpPr>
        <p:spPr>
          <a:xfrm>
            <a:off x="127075" y="905150"/>
            <a:ext cx="4792500" cy="46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Anon-Mode token validation</a:t>
            </a:r>
            <a:endParaRPr sz="31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1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Xeon </a:t>
            </a:r>
            <a:r>
              <a:rPr lang="pt-BR" sz="31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E5-2620</a:t>
            </a:r>
            <a:endParaRPr sz="31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694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140"/>
              <a:buFont typeface="Noto Sans Symbols"/>
              <a:buChar char="●"/>
            </a:pP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validation scheme of anonymous-mode using galindo-garcia had a mean value of </a:t>
            </a:r>
            <a:r>
              <a:rPr b="1"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4.616</a:t>
            </a:r>
            <a:r>
              <a:rPr b="1"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milliseconds</a:t>
            </a: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a standard deviation of </a:t>
            </a:r>
            <a:r>
              <a:rPr b="1"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1.01</a:t>
            </a:r>
            <a:r>
              <a:rPr b="1"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ms</a:t>
            </a:r>
            <a:r>
              <a:rPr lang="pt-BR" sz="2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9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5" name="Google Shape;325;g1e920609e4c_17_41"/>
          <p:cNvPicPr preferRelativeResize="0"/>
          <p:nvPr/>
        </p:nvPicPr>
        <p:blipFill rotWithShape="1">
          <a:blip r:embed="rId3">
            <a:alphaModFix/>
          </a:blip>
          <a:srcRect b="0" l="1176" r="0" t="0"/>
          <a:stretch/>
        </p:blipFill>
        <p:spPr>
          <a:xfrm>
            <a:off x="5018925" y="483937"/>
            <a:ext cx="6791076" cy="589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e9579d1976_2_5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1e9579d1976_2_5"/>
          <p:cNvSpPr/>
          <p:nvPr/>
        </p:nvSpPr>
        <p:spPr>
          <a:xfrm>
            <a:off x="0" y="898425"/>
            <a:ext cx="3344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g1e9579d1976_2_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5775" y="749400"/>
            <a:ext cx="7110935" cy="61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1e9579d1976_2_5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1e9579d1976_2_71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1e9579d1976_2_71"/>
          <p:cNvSpPr/>
          <p:nvPr/>
        </p:nvSpPr>
        <p:spPr>
          <a:xfrm>
            <a:off x="0" y="898425"/>
            <a:ext cx="3344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 </a:t>
            </a: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g1e9579d1976_2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65777" y="0"/>
            <a:ext cx="798329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1e9579d1976_2_71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95f31b732d_0_157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g295f31b732d_0_157"/>
          <p:cNvSpPr/>
          <p:nvPr/>
        </p:nvSpPr>
        <p:spPr>
          <a:xfrm>
            <a:off x="170725" y="1025650"/>
            <a:ext cx="32055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g295f31b732d_0_157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9" name="Google Shape;349;g295f31b732d_0_1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225" y="243852"/>
            <a:ext cx="7451550" cy="638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95f31b732d_0_164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295f31b732d_0_164"/>
          <p:cNvSpPr/>
          <p:nvPr/>
        </p:nvSpPr>
        <p:spPr>
          <a:xfrm>
            <a:off x="0" y="1127025"/>
            <a:ext cx="3599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295f31b732d_0_164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7" name="Google Shape;357;g295f31b732d_0_164"/>
          <p:cNvPicPr preferRelativeResize="0"/>
          <p:nvPr/>
        </p:nvPicPr>
        <p:blipFill rotWithShape="1">
          <a:blip r:embed="rId3">
            <a:alphaModFix/>
          </a:blip>
          <a:srcRect b="1497" l="0" r="0" t="0"/>
          <a:stretch/>
        </p:blipFill>
        <p:spPr>
          <a:xfrm>
            <a:off x="3599100" y="298825"/>
            <a:ext cx="7521701" cy="635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1e9579d1976_2_24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1e9579d1976_2_24"/>
          <p:cNvSpPr/>
          <p:nvPr/>
        </p:nvSpPr>
        <p:spPr>
          <a:xfrm>
            <a:off x="0" y="898425"/>
            <a:ext cx="35352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   ID</a:t>
            </a: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g1e9579d1976_2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6825" y="0"/>
            <a:ext cx="7983296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g1e9579d1976_2_24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e9579d1976_2_112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1e9579d1976_2_112"/>
          <p:cNvSpPr/>
          <p:nvPr/>
        </p:nvSpPr>
        <p:spPr>
          <a:xfrm>
            <a:off x="0" y="898425"/>
            <a:ext cx="40728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</a:t>
            </a: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2" name="Google Shape;372;g1e9579d1976_2_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7600" y="0"/>
            <a:ext cx="7983299" cy="6857988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1e9579d1976_2_112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95f31b732d_0_194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g295f31b732d_0_194"/>
          <p:cNvSpPr/>
          <p:nvPr/>
        </p:nvSpPr>
        <p:spPr>
          <a:xfrm>
            <a:off x="0" y="898425"/>
            <a:ext cx="35352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   ID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295f31b732d_0_194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g295f31b732d_0_194"/>
          <p:cNvPicPr preferRelativeResize="0"/>
          <p:nvPr/>
        </p:nvPicPr>
        <p:blipFill rotWithShape="1">
          <a:blip r:embed="rId3">
            <a:alphaModFix/>
          </a:blip>
          <a:srcRect b="0" l="0" r="0" t="842"/>
          <a:stretch/>
        </p:blipFill>
        <p:spPr>
          <a:xfrm>
            <a:off x="3651825" y="290775"/>
            <a:ext cx="7447701" cy="6330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95f31b732d_0_201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295f31b732d_0_201"/>
          <p:cNvSpPr/>
          <p:nvPr/>
        </p:nvSpPr>
        <p:spPr>
          <a:xfrm>
            <a:off x="0" y="898425"/>
            <a:ext cx="3377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ID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g295f31b732d_0_201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g295f31b732d_0_2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7100" y="294827"/>
            <a:ext cx="7568000" cy="643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1e9579d1976_2_120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g1e9579d1976_2_120"/>
          <p:cNvSpPr/>
          <p:nvPr/>
        </p:nvSpPr>
        <p:spPr>
          <a:xfrm>
            <a:off x="0" y="898425"/>
            <a:ext cx="3344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6" name="Google Shape;396;g1e9579d1976_2_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100" y="0"/>
            <a:ext cx="79021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g1e9579d1976_2_120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1e9579d1976_2_127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g1e9579d1976_2_127"/>
          <p:cNvSpPr/>
          <p:nvPr/>
        </p:nvSpPr>
        <p:spPr>
          <a:xfrm>
            <a:off x="0" y="898425"/>
            <a:ext cx="3344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g1e9579d1976_2_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417" y="0"/>
            <a:ext cx="7902001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1e9579d1976_2_127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95f31b732d_0_176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295f31b732d_0_176"/>
          <p:cNvSpPr/>
          <p:nvPr/>
        </p:nvSpPr>
        <p:spPr>
          <a:xfrm>
            <a:off x="0" y="898425"/>
            <a:ext cx="3344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g295f31b732d_0_176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3" name="Google Shape;413;g295f31b732d_0_176"/>
          <p:cNvPicPr preferRelativeResize="0"/>
          <p:nvPr/>
        </p:nvPicPr>
        <p:blipFill rotWithShape="1">
          <a:blip r:embed="rId3">
            <a:alphaModFix/>
          </a:blip>
          <a:srcRect b="0" l="0" r="0" t="1244"/>
          <a:stretch/>
        </p:blipFill>
        <p:spPr>
          <a:xfrm>
            <a:off x="3454000" y="505400"/>
            <a:ext cx="7353199" cy="6224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95f31b732d_0_183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g295f31b732d_0_183"/>
          <p:cNvSpPr/>
          <p:nvPr/>
        </p:nvSpPr>
        <p:spPr>
          <a:xfrm>
            <a:off x="0" y="898425"/>
            <a:ext cx="33441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 CPU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295f31b732d_0_183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g295f31b732d_0_183"/>
          <p:cNvPicPr preferRelativeResize="0"/>
          <p:nvPr/>
        </p:nvPicPr>
        <p:blipFill rotWithShape="1">
          <a:blip r:embed="rId3">
            <a:alphaModFix/>
          </a:blip>
          <a:srcRect b="0" l="0" r="0" t="764"/>
          <a:stretch/>
        </p:blipFill>
        <p:spPr>
          <a:xfrm>
            <a:off x="3344100" y="455550"/>
            <a:ext cx="7224974" cy="61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1e9579d1976_2_134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g1e9579d1976_2_134"/>
          <p:cNvSpPr/>
          <p:nvPr/>
        </p:nvSpPr>
        <p:spPr>
          <a:xfrm>
            <a:off x="0" y="898425"/>
            <a:ext cx="40728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g1e9579d1976_2_1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150" y="0"/>
            <a:ext cx="7902205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1e9579d1976_2_134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e9579d1976_2_141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g1e9579d1976_2_141"/>
          <p:cNvSpPr/>
          <p:nvPr/>
        </p:nvSpPr>
        <p:spPr>
          <a:xfrm>
            <a:off x="0" y="898425"/>
            <a:ext cx="40728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i7-4770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6" name="Google Shape;436;g1e9579d1976_2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0150" y="0"/>
            <a:ext cx="7902205" cy="6857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1e9579d1976_2_1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0150" y="0"/>
            <a:ext cx="7902200" cy="681573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1e9579d1976_2_141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295f31b732d_0_209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g295f31b732d_0_209"/>
          <p:cNvSpPr/>
          <p:nvPr/>
        </p:nvSpPr>
        <p:spPr>
          <a:xfrm>
            <a:off x="0" y="898425"/>
            <a:ext cx="40728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(idle)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g295f31b732d_0_209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6" name="Google Shape;446;g295f31b732d_0_2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3525" y="526676"/>
            <a:ext cx="7045474" cy="603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95f31b732d_0_217"/>
          <p:cNvSpPr/>
          <p:nvPr/>
        </p:nvSpPr>
        <p:spPr>
          <a:xfrm>
            <a:off x="-180000" y="55200"/>
            <a:ext cx="874200" cy="6942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295f31b732d_0_217"/>
          <p:cNvSpPr/>
          <p:nvPr/>
        </p:nvSpPr>
        <p:spPr>
          <a:xfrm>
            <a:off x="0" y="898425"/>
            <a:ext cx="40728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Anon Mode -Memory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(under load)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rgbClr val="2A6099"/>
                </a:solidFill>
                <a:latin typeface="Calibri"/>
                <a:ea typeface="Calibri"/>
                <a:cs typeface="Calibri"/>
                <a:sym typeface="Calibri"/>
              </a:rPr>
              <a:t>Intel Xeon E5-2620</a:t>
            </a:r>
            <a:endParaRPr sz="3000">
              <a:solidFill>
                <a:srgbClr val="2A6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295f31b732d_0_217"/>
          <p:cNvSpPr/>
          <p:nvPr/>
        </p:nvSpPr>
        <p:spPr>
          <a:xfrm>
            <a:off x="837720" y="-263760"/>
            <a:ext cx="10480800" cy="128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400"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sz="4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4" name="Google Shape;454;g295f31b732d_0_217"/>
          <p:cNvPicPr preferRelativeResize="0"/>
          <p:nvPr/>
        </p:nvPicPr>
        <p:blipFill rotWithShape="1">
          <a:blip r:embed="rId3">
            <a:alphaModFix/>
          </a:blip>
          <a:srcRect b="0" l="0" r="0" t="1361"/>
          <a:stretch/>
        </p:blipFill>
        <p:spPr>
          <a:xfrm>
            <a:off x="3795700" y="502225"/>
            <a:ext cx="7374199" cy="62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1e92832024c_4_5"/>
          <p:cNvSpPr/>
          <p:nvPr/>
        </p:nvSpPr>
        <p:spPr>
          <a:xfrm>
            <a:off x="837720" y="-263760"/>
            <a:ext cx="10479300" cy="12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work</a:t>
            </a:r>
            <a:endParaRPr b="0" i="0" sz="4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g1e92832024c_4_5"/>
          <p:cNvSpPr/>
          <p:nvPr/>
        </p:nvSpPr>
        <p:spPr>
          <a:xfrm>
            <a:off x="-180000" y="55200"/>
            <a:ext cx="872700" cy="692700"/>
          </a:xfrm>
          <a:prstGeom prst="rect">
            <a:avLst/>
          </a:prstGeom>
          <a:solidFill>
            <a:srgbClr val="729FCF"/>
          </a:solidFill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1e92832024c_4_5"/>
          <p:cNvSpPr txBox="1"/>
          <p:nvPr/>
        </p:nvSpPr>
        <p:spPr>
          <a:xfrm>
            <a:off x="577000" y="1129350"/>
            <a:ext cx="94185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 a branch for the instrumentation of the PoC on our project repository</a:t>
            </a: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15999" lvl="1" marL="431999" rtl="0" algn="l"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Noto Sans Symbols"/>
              <a:buChar char="●"/>
            </a:pPr>
            <a:r>
              <a:rPr lang="pt-BR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development of the PoC using the LSVID and instrumenting the new model with Prometheus.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9640" y="576360"/>
            <a:ext cx="4307040" cy="4523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cheiro:Hewlett Packard Enterprise logo.svg – Wikipédia, a enciclopédia  livre" id="467" name="Google Shape;46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5400" y="5901840"/>
            <a:ext cx="1940760" cy="797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tipos | Universidade de São Paulo" id="468" name="Google Shape;468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6600" y="5771880"/>
            <a:ext cx="1540440" cy="1154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6480" y="6039720"/>
            <a:ext cx="2833560" cy="61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96520" y="5760000"/>
            <a:ext cx="3005640" cy="96696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23"/>
          <p:cNvSpPr/>
          <p:nvPr/>
        </p:nvSpPr>
        <p:spPr>
          <a:xfrm>
            <a:off x="2890440" y="4954680"/>
            <a:ext cx="6393000" cy="6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4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Thanks!</a:t>
            </a:r>
            <a:endParaRPr b="0" i="0" sz="4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2021-08-04T11:02:43Z</dcterms:created>
  <dc:creator>Ambrosi, Joao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6</vt:i4>
  </property>
  <property fmtid="{D5CDD505-2E9C-101B-9397-08002B2CF9AE}" pid="3" name="PresentationFormat">
    <vt:lpwstr>Widescreen</vt:lpwstr>
  </property>
  <property fmtid="{D5CDD505-2E9C-101B-9397-08002B2CF9AE}" pid="4" name="Slides">
    <vt:i4>6</vt:i4>
  </property>
</Properties>
</file>