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3588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;p16"/>
          <p:cNvSpPr/>
          <p:nvPr/>
        </p:nvSpPr>
        <p:spPr>
          <a:xfrm>
            <a:off x="11476800" y="6632640"/>
            <a:ext cx="381600" cy="846720"/>
          </a:xfrm>
          <a:prstGeom prst="rect">
            <a:avLst/>
          </a:prstGeom>
          <a:solidFill>
            <a:srgbClr val="B0595D"/>
          </a:solidFill>
          <a:ln w="12600">
            <a:solidFill>
              <a:srgbClr val="9852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120" tIns="6120" rIns="6120" bIns="6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Google Shape;7;p16"/>
          <p:cNvSpPr/>
          <p:nvPr/>
        </p:nvSpPr>
        <p:spPr>
          <a:xfrm>
            <a:off x="11520000" y="6592680"/>
            <a:ext cx="14630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fld id="{6B333E9F-03F0-40AF-8560-C32C1D76A33D}" type="slidenum">
              <a:rPr lang="en-US" sz="1300" b="1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‹#›</a:t>
            </a:fld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.png"/><Relationship Id="rId10" Type="http://schemas.openxmlformats.org/officeDocument/2006/relationships/image" Target="../media/image47.png"/><Relationship Id="rId4" Type="http://schemas.openxmlformats.org/officeDocument/2006/relationships/image" Target="../media/image3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62;p1"/>
          <p:cNvSpPr/>
          <p:nvPr/>
        </p:nvSpPr>
        <p:spPr>
          <a:xfrm>
            <a:off x="155160" y="-144360"/>
            <a:ext cx="9163440" cy="26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1" name="Google Shape;63;p1" descr="Logotipos | Universidade de São Paulo"/>
          <p:cNvPicPr/>
          <p:nvPr/>
        </p:nvPicPr>
        <p:blipFill>
          <a:blip r:embed="rId2"/>
          <a:stretch/>
        </p:blipFill>
        <p:spPr>
          <a:xfrm>
            <a:off x="4838400" y="5016600"/>
            <a:ext cx="2016360" cy="149760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64;p1"/>
          <p:cNvPicPr/>
          <p:nvPr/>
        </p:nvPicPr>
        <p:blipFill>
          <a:blip r:embed="rId3"/>
          <a:stretch/>
        </p:blipFill>
        <p:spPr>
          <a:xfrm>
            <a:off x="8445960" y="5388480"/>
            <a:ext cx="3667680" cy="75384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65;p1"/>
          <p:cNvSpPr/>
          <p:nvPr/>
        </p:nvSpPr>
        <p:spPr>
          <a:xfrm>
            <a:off x="0" y="3998160"/>
            <a:ext cx="12166200" cy="8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66;p1"/>
          <p:cNvSpPr/>
          <p:nvPr/>
        </p:nvSpPr>
        <p:spPr>
          <a:xfrm>
            <a:off x="0" y="1519560"/>
            <a:ext cx="12191040" cy="23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en-US" sz="6000" b="0" strike="noStrike" spc="-1">
                <a:solidFill>
                  <a:srgbClr val="000000"/>
                </a:solidFill>
                <a:latin typeface="Calibri"/>
                <a:ea typeface="Calibri"/>
              </a:rPr>
              <a:t>Enhancing SPIFFE/SPIRE environment with a nested security token model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Google Shape;67;p1"/>
          <p:cNvPicPr/>
          <p:nvPr/>
        </p:nvPicPr>
        <p:blipFill>
          <a:blip r:embed="rId4"/>
          <a:stretch/>
        </p:blipFill>
        <p:spPr>
          <a:xfrm>
            <a:off x="-11520" y="6206040"/>
            <a:ext cx="12213720" cy="664920"/>
          </a:xfrm>
          <a:prstGeom prst="rect">
            <a:avLst/>
          </a:prstGeom>
          <a:ln w="0">
            <a:noFill/>
          </a:ln>
        </p:spPr>
      </p:pic>
      <p:pic>
        <p:nvPicPr>
          <p:cNvPr id="46" name="Google Shape;68;p1"/>
          <p:cNvPicPr/>
          <p:nvPr/>
        </p:nvPicPr>
        <p:blipFill>
          <a:blip r:embed="rId5"/>
          <a:stretch/>
        </p:blipFill>
        <p:spPr>
          <a:xfrm>
            <a:off x="-11520" y="-36000"/>
            <a:ext cx="12213720" cy="141480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69;p1"/>
          <p:cNvPicPr/>
          <p:nvPr/>
        </p:nvPicPr>
        <p:blipFill>
          <a:blip r:embed="rId6"/>
          <a:stretch/>
        </p:blipFill>
        <p:spPr>
          <a:xfrm>
            <a:off x="66960" y="5171040"/>
            <a:ext cx="2693520" cy="92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74;p2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75;p2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Agenda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76;p2"/>
          <p:cNvSpPr/>
          <p:nvPr/>
        </p:nvSpPr>
        <p:spPr>
          <a:xfrm>
            <a:off x="275040" y="1121040"/>
            <a:ext cx="11700000" cy="31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2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What is SPIFFE/SPIRE?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2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The nested token model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2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Signature schemes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2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Applications to SPIRE and cloud environments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Google Shape;77;p2"/>
          <p:cNvPicPr/>
          <p:nvPr/>
        </p:nvPicPr>
        <p:blipFill>
          <a:blip r:embed="rId3"/>
          <a:stretch/>
        </p:blipFill>
        <p:spPr>
          <a:xfrm>
            <a:off x="367920" y="5564160"/>
            <a:ext cx="11127960" cy="773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2;p3"/>
          <p:cNvPicPr/>
          <p:nvPr/>
        </p:nvPicPr>
        <p:blipFill>
          <a:blip r:embed="rId2"/>
          <a:stretch/>
        </p:blipFill>
        <p:spPr>
          <a:xfrm>
            <a:off x="7398000" y="3630960"/>
            <a:ext cx="3845160" cy="2466720"/>
          </a:xfrm>
          <a:prstGeom prst="rect">
            <a:avLst/>
          </a:prstGeom>
          <a:ln w="0">
            <a:noFill/>
          </a:ln>
        </p:spPr>
      </p:pic>
      <p:pic>
        <p:nvPicPr>
          <p:cNvPr id="53" name="Google Shape;83;p3"/>
          <p:cNvPicPr/>
          <p:nvPr/>
        </p:nvPicPr>
        <p:blipFill>
          <a:blip r:embed="rId3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54" name="Google Shape;84;p3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SPIFFE / SPIRE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Google Shape;85;p3"/>
          <p:cNvPicPr/>
          <p:nvPr/>
        </p:nvPicPr>
        <p:blipFill>
          <a:blip r:embed="rId4"/>
          <a:stretch/>
        </p:blipFill>
        <p:spPr>
          <a:xfrm>
            <a:off x="7160760" y="1454400"/>
            <a:ext cx="3597120" cy="576720"/>
          </a:xfrm>
          <a:prstGeom prst="rect">
            <a:avLst/>
          </a:prstGeom>
          <a:ln w="0">
            <a:noFill/>
          </a:ln>
        </p:spPr>
      </p:pic>
      <p:pic>
        <p:nvPicPr>
          <p:cNvPr id="56" name="Google Shape;86;p3"/>
          <p:cNvPicPr/>
          <p:nvPr/>
        </p:nvPicPr>
        <p:blipFill>
          <a:blip r:embed="rId5"/>
          <a:stretch/>
        </p:blipFill>
        <p:spPr>
          <a:xfrm>
            <a:off x="421920" y="3907440"/>
            <a:ext cx="1767600" cy="49284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87;p3"/>
          <p:cNvPicPr/>
          <p:nvPr/>
        </p:nvPicPr>
        <p:blipFill>
          <a:blip r:embed="rId6"/>
          <a:stretch/>
        </p:blipFill>
        <p:spPr>
          <a:xfrm>
            <a:off x="421920" y="4886280"/>
            <a:ext cx="1683360" cy="608400"/>
          </a:xfrm>
          <a:prstGeom prst="rect">
            <a:avLst/>
          </a:prstGeom>
          <a:ln w="0">
            <a:noFill/>
          </a:ln>
        </p:spPr>
      </p:pic>
      <p:sp>
        <p:nvSpPr>
          <p:cNvPr id="58" name="Google Shape;88;p3"/>
          <p:cNvSpPr/>
          <p:nvPr/>
        </p:nvSpPr>
        <p:spPr>
          <a:xfrm>
            <a:off x="2286000" y="3925080"/>
            <a:ext cx="325044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is the </a:t>
            </a:r>
            <a:r>
              <a:rPr lang="en-US" sz="2600" b="1" strike="noStrike" spc="-1">
                <a:solidFill>
                  <a:srgbClr val="000000"/>
                </a:solidFill>
                <a:latin typeface="Arial"/>
                <a:ea typeface="Arial"/>
              </a:rPr>
              <a:t>specification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89;p3"/>
          <p:cNvSpPr/>
          <p:nvPr/>
        </p:nvSpPr>
        <p:spPr>
          <a:xfrm>
            <a:off x="2286000" y="4954680"/>
            <a:ext cx="3717720" cy="47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is the </a:t>
            </a:r>
            <a:r>
              <a:rPr lang="en-US" sz="2600" b="1" strike="noStrike" spc="-1">
                <a:solidFill>
                  <a:srgbClr val="000000"/>
                </a:solidFill>
                <a:latin typeface="Arial"/>
                <a:ea typeface="Arial"/>
              </a:rPr>
              <a:t>implementation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90;p3"/>
          <p:cNvSpPr/>
          <p:nvPr/>
        </p:nvSpPr>
        <p:spPr>
          <a:xfrm>
            <a:off x="275040" y="2448360"/>
            <a:ext cx="964044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Focus on cloud security and workload identity management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91;p3"/>
          <p:cNvSpPr/>
          <p:nvPr/>
        </p:nvSpPr>
        <p:spPr>
          <a:xfrm>
            <a:off x="275040" y="1538640"/>
            <a:ext cx="587088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Two different projects mainteined by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92;p3"/>
          <p:cNvPicPr/>
          <p:nvPr/>
        </p:nvPicPr>
        <p:blipFill>
          <a:blip r:embed="rId7"/>
          <a:stretch/>
        </p:blipFill>
        <p:spPr>
          <a:xfrm>
            <a:off x="7900560" y="5990760"/>
            <a:ext cx="2189160" cy="59256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93;p3"/>
          <p:cNvPicPr/>
          <p:nvPr/>
        </p:nvPicPr>
        <p:blipFill>
          <a:blip r:embed="rId8"/>
          <a:stretch/>
        </p:blipFill>
        <p:spPr>
          <a:xfrm>
            <a:off x="8664840" y="3261240"/>
            <a:ext cx="1370160" cy="512640"/>
          </a:xfrm>
          <a:prstGeom prst="rect">
            <a:avLst/>
          </a:prstGeom>
          <a:ln w="0">
            <a:noFill/>
          </a:ln>
        </p:spPr>
      </p:pic>
      <p:pic>
        <p:nvPicPr>
          <p:cNvPr id="64" name="Google Shape;94;p3"/>
          <p:cNvPicPr/>
          <p:nvPr/>
        </p:nvPicPr>
        <p:blipFill>
          <a:blip r:embed="rId9"/>
          <a:stretch/>
        </p:blipFill>
        <p:spPr>
          <a:xfrm>
            <a:off x="7331760" y="3920400"/>
            <a:ext cx="1143360" cy="468000"/>
          </a:xfrm>
          <a:prstGeom prst="rect">
            <a:avLst/>
          </a:prstGeom>
          <a:ln w="0">
            <a:noFill/>
          </a:ln>
        </p:spPr>
      </p:pic>
      <p:pic>
        <p:nvPicPr>
          <p:cNvPr id="65" name="Google Shape;95;p3"/>
          <p:cNvPicPr/>
          <p:nvPr/>
        </p:nvPicPr>
        <p:blipFill>
          <a:blip r:embed="rId10"/>
          <a:stretch/>
        </p:blipFill>
        <p:spPr>
          <a:xfrm>
            <a:off x="10700280" y="3706920"/>
            <a:ext cx="1017720" cy="912960"/>
          </a:xfrm>
          <a:prstGeom prst="rect">
            <a:avLst/>
          </a:prstGeom>
          <a:ln w="0">
            <a:noFill/>
          </a:ln>
        </p:spPr>
      </p:pic>
      <p:pic>
        <p:nvPicPr>
          <p:cNvPr id="66" name="Google Shape;96;p3"/>
          <p:cNvPicPr/>
          <p:nvPr/>
        </p:nvPicPr>
        <p:blipFill>
          <a:blip r:embed="rId11"/>
          <a:stretch/>
        </p:blipFill>
        <p:spPr>
          <a:xfrm>
            <a:off x="6695640" y="4821120"/>
            <a:ext cx="917280" cy="845640"/>
          </a:xfrm>
          <a:prstGeom prst="rect">
            <a:avLst/>
          </a:prstGeom>
          <a:ln w="0">
            <a:noFill/>
          </a:ln>
        </p:spPr>
      </p:pic>
      <p:pic>
        <p:nvPicPr>
          <p:cNvPr id="67" name="Google Shape;97;p3"/>
          <p:cNvPicPr/>
          <p:nvPr/>
        </p:nvPicPr>
        <p:blipFill>
          <a:blip r:embed="rId12"/>
          <a:stretch/>
        </p:blipFill>
        <p:spPr>
          <a:xfrm>
            <a:off x="10548000" y="5313960"/>
            <a:ext cx="1344600" cy="894600"/>
          </a:xfrm>
          <a:prstGeom prst="rect">
            <a:avLst/>
          </a:prstGeom>
          <a:ln w="0">
            <a:noFill/>
          </a:ln>
        </p:spPr>
      </p:pic>
      <p:pic>
        <p:nvPicPr>
          <p:cNvPr id="68" name="Google Shape;98;p3"/>
          <p:cNvPicPr/>
          <p:nvPr/>
        </p:nvPicPr>
        <p:blipFill>
          <a:blip r:embed="rId13"/>
          <a:stretch/>
        </p:blipFill>
        <p:spPr>
          <a:xfrm>
            <a:off x="8411040" y="4569480"/>
            <a:ext cx="1903680" cy="731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03;p4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04;p4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Workload identities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05;p4"/>
          <p:cNvSpPr/>
          <p:nvPr/>
        </p:nvSpPr>
        <p:spPr>
          <a:xfrm>
            <a:off x="275040" y="1013040"/>
            <a:ext cx="11700000" cy="66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A piece of software identified by a signed ID: </a:t>
            </a: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SPIFFE Verifiable Identity Document</a:t>
            </a: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 (</a:t>
            </a: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SVID</a:t>
            </a: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06;p4"/>
          <p:cNvSpPr/>
          <p:nvPr/>
        </p:nvSpPr>
        <p:spPr>
          <a:xfrm>
            <a:off x="6387480" y="5222160"/>
            <a:ext cx="1167480" cy="1077480"/>
          </a:xfrm>
          <a:prstGeom prst="rect">
            <a:avLst/>
          </a:prstGeom>
          <a:solidFill>
            <a:srgbClr val="DDDDDD"/>
          </a:solidFill>
          <a:ln w="19075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4320" tIns="49320" rIns="94320" bIns="49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Workload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API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07;p4"/>
          <p:cNvSpPr/>
          <p:nvPr/>
        </p:nvSpPr>
        <p:spPr>
          <a:xfrm>
            <a:off x="3234240" y="5577840"/>
            <a:ext cx="1436400" cy="342360"/>
          </a:xfrm>
          <a:prstGeom prst="rect">
            <a:avLst/>
          </a:prstGeom>
          <a:solidFill>
            <a:srgbClr val="DDE8CB"/>
          </a:solidFill>
          <a:ln w="38150">
            <a:solidFill>
              <a:srgbClr val="0C71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74" name="Google Shape;108;p4"/>
          <p:cNvPicPr/>
          <p:nvPr/>
        </p:nvPicPr>
        <p:blipFill>
          <a:blip r:embed="rId3"/>
          <a:stretch/>
        </p:blipFill>
        <p:spPr>
          <a:xfrm>
            <a:off x="4465080" y="5804280"/>
            <a:ext cx="206640" cy="29304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09;p4"/>
          <p:cNvSpPr/>
          <p:nvPr/>
        </p:nvSpPr>
        <p:spPr>
          <a:xfrm>
            <a:off x="3233520" y="5064480"/>
            <a:ext cx="1436400" cy="342360"/>
          </a:xfrm>
          <a:prstGeom prst="rect">
            <a:avLst/>
          </a:prstGeom>
          <a:solidFill>
            <a:srgbClr val="DDE8CB"/>
          </a:solidFill>
          <a:ln w="38150">
            <a:solidFill>
              <a:srgbClr val="0C71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76" name="Google Shape;110;p4"/>
          <p:cNvPicPr/>
          <p:nvPr/>
        </p:nvPicPr>
        <p:blipFill>
          <a:blip r:embed="rId3"/>
          <a:stretch/>
        </p:blipFill>
        <p:spPr>
          <a:xfrm>
            <a:off x="4464360" y="5290920"/>
            <a:ext cx="206640" cy="29304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11;p4"/>
          <p:cNvSpPr/>
          <p:nvPr/>
        </p:nvSpPr>
        <p:spPr>
          <a:xfrm>
            <a:off x="3233520" y="6108480"/>
            <a:ext cx="1436400" cy="342360"/>
          </a:xfrm>
          <a:prstGeom prst="rect">
            <a:avLst/>
          </a:prstGeom>
          <a:solidFill>
            <a:srgbClr val="DDE8CB"/>
          </a:solidFill>
          <a:ln w="38150">
            <a:solidFill>
              <a:srgbClr val="0C71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78" name="Google Shape;112;p4"/>
          <p:cNvPicPr/>
          <p:nvPr/>
        </p:nvPicPr>
        <p:blipFill>
          <a:blip r:embed="rId3"/>
          <a:stretch/>
        </p:blipFill>
        <p:spPr>
          <a:xfrm>
            <a:off x="4464360" y="6334920"/>
            <a:ext cx="206640" cy="29304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13;p4"/>
          <p:cNvSpPr/>
          <p:nvPr/>
        </p:nvSpPr>
        <p:spPr>
          <a:xfrm>
            <a:off x="3054240" y="4893120"/>
            <a:ext cx="1826640" cy="1735200"/>
          </a:xfrm>
          <a:prstGeom prst="rect">
            <a:avLst/>
          </a:prstGeom>
          <a:noFill/>
          <a:ln w="38150">
            <a:solidFill>
              <a:srgbClr val="158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14;p4"/>
          <p:cNvSpPr/>
          <p:nvPr/>
        </p:nvSpPr>
        <p:spPr>
          <a:xfrm>
            <a:off x="9066240" y="5523840"/>
            <a:ext cx="537480" cy="363600"/>
          </a:xfrm>
          <a:prstGeom prst="rect">
            <a:avLst/>
          </a:prstGeom>
          <a:solidFill>
            <a:srgbClr val="DDDDDD"/>
          </a:solidFill>
          <a:ln w="19075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4320" tIns="49320" rIns="94320" bIns="49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15;p4"/>
          <p:cNvSpPr/>
          <p:nvPr/>
        </p:nvSpPr>
        <p:spPr>
          <a:xfrm>
            <a:off x="9066240" y="6045840"/>
            <a:ext cx="537480" cy="363600"/>
          </a:xfrm>
          <a:prstGeom prst="rect">
            <a:avLst/>
          </a:prstGeom>
          <a:solidFill>
            <a:srgbClr val="DDDDDD">
              <a:alpha val="25000"/>
            </a:srgbClr>
          </a:solidFill>
          <a:ln w="19075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4320" tIns="49320" rIns="94320" bIns="49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16;p4"/>
          <p:cNvSpPr/>
          <p:nvPr/>
        </p:nvSpPr>
        <p:spPr>
          <a:xfrm>
            <a:off x="9066240" y="5001840"/>
            <a:ext cx="537480" cy="363600"/>
          </a:xfrm>
          <a:prstGeom prst="rect">
            <a:avLst/>
          </a:prstGeom>
          <a:solidFill>
            <a:srgbClr val="DDDDDD">
              <a:alpha val="25000"/>
            </a:srgbClr>
          </a:solidFill>
          <a:ln w="19075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4320" tIns="49320" rIns="94320" bIns="49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7;p4"/>
          <p:cNvSpPr/>
          <p:nvPr/>
        </p:nvSpPr>
        <p:spPr>
          <a:xfrm>
            <a:off x="3233520" y="5064480"/>
            <a:ext cx="143640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ial"/>
              </a:rPr>
              <a:t>spiffe://td/w1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18;p4"/>
          <p:cNvSpPr/>
          <p:nvPr/>
        </p:nvSpPr>
        <p:spPr>
          <a:xfrm>
            <a:off x="3233880" y="5568480"/>
            <a:ext cx="143640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ial"/>
              </a:rPr>
              <a:t>spiffe://td/w2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119;p4"/>
          <p:cNvSpPr/>
          <p:nvPr/>
        </p:nvSpPr>
        <p:spPr>
          <a:xfrm>
            <a:off x="3234240" y="6108480"/>
            <a:ext cx="143640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ial"/>
              </a:rPr>
              <a:t>spiffe://td/w3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20;p4"/>
          <p:cNvSpPr/>
          <p:nvPr/>
        </p:nvSpPr>
        <p:spPr>
          <a:xfrm>
            <a:off x="6057720" y="4893120"/>
            <a:ext cx="1826640" cy="1735200"/>
          </a:xfrm>
          <a:prstGeom prst="rect">
            <a:avLst/>
          </a:prstGeom>
          <a:noFill/>
          <a:ln w="38150">
            <a:solidFill>
              <a:srgbClr val="158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Google Shape;121;p4"/>
          <p:cNvSpPr/>
          <p:nvPr/>
        </p:nvSpPr>
        <p:spPr>
          <a:xfrm>
            <a:off x="3078360" y="4511160"/>
            <a:ext cx="178740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SPIRE Server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22;p4"/>
          <p:cNvSpPr/>
          <p:nvPr/>
        </p:nvSpPr>
        <p:spPr>
          <a:xfrm>
            <a:off x="6075720" y="4511520"/>
            <a:ext cx="180864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SPIRE Agent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" name="Google Shape;123;p4"/>
          <p:cNvCxnSpPr/>
          <p:nvPr/>
        </p:nvCxnSpPr>
        <p:spPr>
          <a:xfrm flipH="1">
            <a:off x="7886520" y="5577840"/>
            <a:ext cx="1180800" cy="1440"/>
          </a:xfrm>
          <a:prstGeom prst="straightConnector1">
            <a:avLst/>
          </a:prstGeom>
          <a:ln w="29150">
            <a:solidFill>
              <a:srgbClr val="4EA044"/>
            </a:solidFill>
            <a:round/>
            <a:tailEnd type="triangle" w="med" len="med"/>
          </a:ln>
        </p:spPr>
      </p:cxnSp>
      <p:cxnSp>
        <p:nvCxnSpPr>
          <p:cNvPr id="90" name="Google Shape;124;p4"/>
          <p:cNvCxnSpPr/>
          <p:nvPr/>
        </p:nvCxnSpPr>
        <p:spPr>
          <a:xfrm flipH="1">
            <a:off x="4889880" y="5577840"/>
            <a:ext cx="1168920" cy="1440"/>
          </a:xfrm>
          <a:prstGeom prst="straightConnector1">
            <a:avLst/>
          </a:prstGeom>
          <a:ln w="29150">
            <a:solidFill>
              <a:srgbClr val="4EA044"/>
            </a:solidFill>
            <a:round/>
            <a:tailEnd type="triangle" w="med" len="med"/>
          </a:ln>
        </p:spPr>
      </p:cxnSp>
      <p:cxnSp>
        <p:nvCxnSpPr>
          <p:cNvPr id="91" name="Google Shape;125;p4"/>
          <p:cNvCxnSpPr/>
          <p:nvPr/>
        </p:nvCxnSpPr>
        <p:spPr>
          <a:xfrm>
            <a:off x="7886520" y="5829840"/>
            <a:ext cx="1181160" cy="1440"/>
          </a:xfrm>
          <a:prstGeom prst="straightConnector1">
            <a:avLst/>
          </a:prstGeom>
          <a:ln w="29150">
            <a:solidFill>
              <a:srgbClr val="4EA044"/>
            </a:solidFill>
            <a:round/>
            <a:tailEnd type="triangle" w="med" len="med"/>
          </a:ln>
        </p:spPr>
      </p:cxnSp>
      <p:cxnSp>
        <p:nvCxnSpPr>
          <p:cNvPr id="92" name="Google Shape;126;p4"/>
          <p:cNvCxnSpPr/>
          <p:nvPr/>
        </p:nvCxnSpPr>
        <p:spPr>
          <a:xfrm>
            <a:off x="4889880" y="5829840"/>
            <a:ext cx="1168920" cy="1440"/>
          </a:xfrm>
          <a:prstGeom prst="straightConnector1">
            <a:avLst/>
          </a:prstGeom>
          <a:ln w="29150">
            <a:solidFill>
              <a:srgbClr val="4EA044"/>
            </a:solidFill>
            <a:round/>
            <a:tailEnd type="triangle" w="med" len="med"/>
          </a:ln>
        </p:spPr>
      </p:cxnSp>
      <p:grpSp>
        <p:nvGrpSpPr>
          <p:cNvPr id="93" name="Google Shape;127;p4"/>
          <p:cNvGrpSpPr/>
          <p:nvPr/>
        </p:nvGrpSpPr>
        <p:grpSpPr>
          <a:xfrm>
            <a:off x="4042800" y="2134800"/>
            <a:ext cx="3495960" cy="1204560"/>
            <a:chOff x="4042800" y="2134800"/>
            <a:chExt cx="3495960" cy="1204560"/>
          </a:xfrm>
        </p:grpSpPr>
        <p:sp>
          <p:nvSpPr>
            <p:cNvPr id="94" name="Google Shape;128;p4"/>
            <p:cNvSpPr/>
            <p:nvPr/>
          </p:nvSpPr>
          <p:spPr>
            <a:xfrm>
              <a:off x="4042800" y="2134800"/>
              <a:ext cx="3495960" cy="837720"/>
            </a:xfrm>
            <a:prstGeom prst="rect">
              <a:avLst/>
            </a:prstGeom>
            <a:solidFill>
              <a:srgbClr val="DDE8CB"/>
            </a:solidFill>
            <a:ln w="38150">
              <a:solidFill>
                <a:srgbClr val="0C711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95" name="Google Shape;129;p4"/>
            <p:cNvPicPr/>
            <p:nvPr/>
          </p:nvPicPr>
          <p:blipFill>
            <a:blip r:embed="rId3"/>
            <a:stretch/>
          </p:blipFill>
          <p:spPr>
            <a:xfrm>
              <a:off x="7077240" y="2690280"/>
              <a:ext cx="456120" cy="649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6" name="Google Shape;130;p4"/>
          <p:cNvSpPr/>
          <p:nvPr/>
        </p:nvSpPr>
        <p:spPr>
          <a:xfrm>
            <a:off x="4118040" y="2170800"/>
            <a:ext cx="3562200" cy="187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2A6099"/>
                </a:solidFill>
                <a:latin typeface="Arial"/>
                <a:ea typeface="Arial"/>
              </a:rPr>
              <a:t>spiffe://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foo</a:t>
            </a:r>
            <a:r>
              <a:rPr lang="en-US" sz="3600" b="0" strike="noStrike" spc="-1">
                <a:solidFill>
                  <a:srgbClr val="2A6099"/>
                </a:solidFill>
                <a:latin typeface="Arial"/>
                <a:ea typeface="Arial"/>
              </a:rPr>
              <a:t>/</a:t>
            </a:r>
            <a:r>
              <a:rPr lang="en-US" sz="3600" b="0" strike="noStrike" spc="-1">
                <a:solidFill>
                  <a:srgbClr val="FF0000"/>
                </a:solidFill>
                <a:latin typeface="Arial"/>
                <a:ea typeface="Arial"/>
              </a:rPr>
              <a:t>bar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7" name="Google Shape;131;p4"/>
          <p:cNvGrpSpPr/>
          <p:nvPr/>
        </p:nvGrpSpPr>
        <p:grpSpPr>
          <a:xfrm>
            <a:off x="3520080" y="2784960"/>
            <a:ext cx="2048040" cy="900000"/>
            <a:chOff x="3520080" y="2784960"/>
            <a:chExt cx="2048040" cy="900000"/>
          </a:xfrm>
        </p:grpSpPr>
        <p:sp>
          <p:nvSpPr>
            <p:cNvPr id="98" name="Google Shape;132;p4"/>
            <p:cNvSpPr/>
            <p:nvPr/>
          </p:nvSpPr>
          <p:spPr>
            <a:xfrm>
              <a:off x="3520080" y="3341520"/>
              <a:ext cx="1617120" cy="34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2A6099"/>
                  </a:solidFill>
                  <a:latin typeface="Arial"/>
                  <a:ea typeface="Arial"/>
                </a:rPr>
                <a:t>URI scheme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99" name="Google Shape;133;p4"/>
            <p:cNvCxnSpPr/>
            <p:nvPr/>
          </p:nvCxnSpPr>
          <p:spPr>
            <a:xfrm>
              <a:off x="4168080" y="2784960"/>
              <a:ext cx="1400400" cy="1440"/>
            </a:xfrm>
            <a:prstGeom prst="straightConnector1">
              <a:avLst/>
            </a:prstGeom>
            <a:ln w="38150">
              <a:solidFill>
                <a:srgbClr val="2A6099"/>
              </a:solidFill>
              <a:round/>
            </a:ln>
          </p:spPr>
        </p:cxnSp>
        <p:cxnSp>
          <p:nvCxnSpPr>
            <p:cNvPr id="100" name="Google Shape;134;p4"/>
            <p:cNvCxnSpPr/>
            <p:nvPr/>
          </p:nvCxnSpPr>
          <p:spPr>
            <a:xfrm flipV="1">
              <a:off x="4492080" y="2835360"/>
              <a:ext cx="361080" cy="541080"/>
            </a:xfrm>
            <a:prstGeom prst="straightConnector1">
              <a:avLst/>
            </a:prstGeom>
            <a:ln w="19075">
              <a:solidFill>
                <a:srgbClr val="000000"/>
              </a:solidFill>
              <a:round/>
              <a:tailEnd type="triangle" w="med" len="med"/>
            </a:ln>
          </p:spPr>
        </p:cxnSp>
      </p:grpSp>
      <p:grpSp>
        <p:nvGrpSpPr>
          <p:cNvPr id="101" name="Google Shape;135;p4"/>
          <p:cNvGrpSpPr/>
          <p:nvPr/>
        </p:nvGrpSpPr>
        <p:grpSpPr>
          <a:xfrm>
            <a:off x="5126400" y="2784960"/>
            <a:ext cx="1617120" cy="900000"/>
            <a:chOff x="5126400" y="2784960"/>
            <a:chExt cx="1617120" cy="900000"/>
          </a:xfrm>
        </p:grpSpPr>
        <p:cxnSp>
          <p:nvCxnSpPr>
            <p:cNvPr id="102" name="Google Shape;136;p4"/>
            <p:cNvCxnSpPr/>
            <p:nvPr/>
          </p:nvCxnSpPr>
          <p:spPr>
            <a:xfrm>
              <a:off x="5644080" y="2784960"/>
              <a:ext cx="695880" cy="1440"/>
            </a:xfrm>
            <a:prstGeom prst="straightConnector1">
              <a:avLst/>
            </a:prstGeom>
            <a:ln w="38150">
              <a:solidFill>
                <a:srgbClr val="000000"/>
              </a:solidFill>
              <a:round/>
            </a:ln>
          </p:spPr>
        </p:cxnSp>
        <p:sp>
          <p:nvSpPr>
            <p:cNvPr id="103" name="Google Shape;137;p4"/>
            <p:cNvSpPr/>
            <p:nvPr/>
          </p:nvSpPr>
          <p:spPr>
            <a:xfrm>
              <a:off x="5126400" y="3341520"/>
              <a:ext cx="1617120" cy="34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Trust domain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04" name="Google Shape;138;p4"/>
            <p:cNvCxnSpPr/>
            <p:nvPr/>
          </p:nvCxnSpPr>
          <p:spPr>
            <a:xfrm flipV="1">
              <a:off x="5968080" y="2835360"/>
              <a:ext cx="1440" cy="554760"/>
            </a:xfrm>
            <a:prstGeom prst="straightConnector1">
              <a:avLst/>
            </a:prstGeom>
            <a:ln w="19075">
              <a:solidFill>
                <a:srgbClr val="000000"/>
              </a:solidFill>
              <a:round/>
              <a:tailEnd type="triangle" w="med" len="med"/>
            </a:ln>
          </p:spPr>
        </p:cxnSp>
      </p:grpSp>
      <p:grpSp>
        <p:nvGrpSpPr>
          <p:cNvPr id="105" name="Google Shape;139;p4"/>
          <p:cNvGrpSpPr/>
          <p:nvPr/>
        </p:nvGrpSpPr>
        <p:grpSpPr>
          <a:xfrm>
            <a:off x="6436080" y="2784960"/>
            <a:ext cx="1887120" cy="913680"/>
            <a:chOff x="6436080" y="2784960"/>
            <a:chExt cx="1887120" cy="913680"/>
          </a:xfrm>
        </p:grpSpPr>
        <p:cxnSp>
          <p:nvCxnSpPr>
            <p:cNvPr id="106" name="Google Shape;140;p4"/>
            <p:cNvCxnSpPr/>
            <p:nvPr/>
          </p:nvCxnSpPr>
          <p:spPr>
            <a:xfrm>
              <a:off x="6436080" y="2784960"/>
              <a:ext cx="721080" cy="1440"/>
            </a:xfrm>
            <a:prstGeom prst="straightConnector1">
              <a:avLst/>
            </a:prstGeom>
            <a:ln w="38150">
              <a:solidFill>
                <a:srgbClr val="FF0000"/>
              </a:solidFill>
              <a:round/>
            </a:ln>
          </p:spPr>
        </p:cxnSp>
        <p:sp>
          <p:nvSpPr>
            <p:cNvPr id="107" name="Google Shape;141;p4"/>
            <p:cNvSpPr/>
            <p:nvPr/>
          </p:nvSpPr>
          <p:spPr>
            <a:xfrm>
              <a:off x="6796080" y="3341520"/>
              <a:ext cx="1527120" cy="35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FF0000"/>
                  </a:solidFill>
                  <a:latin typeface="Arial"/>
                  <a:ea typeface="Arial"/>
                </a:rPr>
                <a:t>Workload ID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08" name="Google Shape;142;p4"/>
            <p:cNvCxnSpPr/>
            <p:nvPr/>
          </p:nvCxnSpPr>
          <p:spPr>
            <a:xfrm flipH="1" flipV="1">
              <a:off x="6796080" y="2871360"/>
              <a:ext cx="618840" cy="541080"/>
            </a:xfrm>
            <a:prstGeom prst="straightConnector1">
              <a:avLst/>
            </a:prstGeom>
            <a:ln w="19075">
              <a:solidFill>
                <a:srgbClr val="000000"/>
              </a:solidFill>
              <a:round/>
              <a:tailEnd type="triangle" w="med" len="med"/>
            </a:ln>
          </p:spPr>
        </p:cxnSp>
      </p:grpSp>
      <p:sp>
        <p:nvSpPr>
          <p:cNvPr id="109" name="Google Shape;143;p4"/>
          <p:cNvSpPr/>
          <p:nvPr/>
        </p:nvSpPr>
        <p:spPr>
          <a:xfrm>
            <a:off x="275040" y="3929040"/>
            <a:ext cx="11700000" cy="54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Attestation</a:t>
            </a: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: Uses selectors to bind an SVID to a workload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44;p4"/>
          <p:cNvSpPr/>
          <p:nvPr/>
        </p:nvSpPr>
        <p:spPr>
          <a:xfrm>
            <a:off x="8829000" y="2134800"/>
            <a:ext cx="2208600" cy="8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Formats</a:t>
            </a: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: </a:t>
            </a:r>
            <a:br>
              <a:rPr sz="2600"/>
            </a:b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X509 or JWT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49;p5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112" name="Google Shape;150;p5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51;p5"/>
          <p:cNvSpPr/>
          <p:nvPr/>
        </p:nvSpPr>
        <p:spPr>
          <a:xfrm>
            <a:off x="275040" y="1121040"/>
            <a:ext cx="11700000" cy="464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SPIRE have some limitations: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7200"/>
              </a:spcBef>
              <a:buClr>
                <a:srgbClr val="985255"/>
              </a:buClr>
              <a:buFont typeface="Noto Sans Symbols"/>
              <a:buChar char="❍"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No support for user identities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0"/>
              </a:spcBef>
              <a:buClr>
                <a:srgbClr val="985255"/>
              </a:buClr>
              <a:buFont typeface="Noto Sans Symbols"/>
              <a:buChar char="❍"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No support for delegation or attenuation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0"/>
              </a:spcBef>
              <a:buClr>
                <a:srgbClr val="985255"/>
              </a:buClr>
              <a:buFont typeface="Noto Sans Symbols"/>
              <a:buChar char="❍"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May be susceptible to replay attacks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152;p5"/>
          <p:cNvPicPr/>
          <p:nvPr/>
        </p:nvPicPr>
        <p:blipFill>
          <a:blip r:embed="rId3"/>
          <a:stretch/>
        </p:blipFill>
        <p:spPr>
          <a:xfrm>
            <a:off x="8024400" y="2206080"/>
            <a:ext cx="2962080" cy="2594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57;p6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58;p6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Nested Token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59;p6"/>
          <p:cNvSpPr/>
          <p:nvPr/>
        </p:nvSpPr>
        <p:spPr>
          <a:xfrm>
            <a:off x="275040" y="1121040"/>
            <a:ext cx="11700000" cy="274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Tokens: set of signed data containing any information 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80"/>
              </a:spcBef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Three components: Payload, Signature and </a:t>
            </a: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Nested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80"/>
              </a:spcBef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Can be extended adding new information, creating a nested structure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160;p6"/>
          <p:cNvPicPr/>
          <p:nvPr/>
        </p:nvPicPr>
        <p:blipFill>
          <a:blip r:embed="rId3"/>
          <a:stretch/>
        </p:blipFill>
        <p:spPr>
          <a:xfrm>
            <a:off x="414000" y="3895560"/>
            <a:ext cx="2928240" cy="1709280"/>
          </a:xfrm>
          <a:prstGeom prst="rect">
            <a:avLst/>
          </a:prstGeom>
          <a:ln w="0">
            <a:noFill/>
          </a:ln>
        </p:spPr>
      </p:pic>
      <p:cxnSp>
        <p:nvCxnSpPr>
          <p:cNvPr id="119" name="Google Shape;161;p6"/>
          <p:cNvCxnSpPr/>
          <p:nvPr/>
        </p:nvCxnSpPr>
        <p:spPr>
          <a:xfrm flipH="1">
            <a:off x="3174120" y="4408920"/>
            <a:ext cx="1377360" cy="1440"/>
          </a:xfrm>
          <a:prstGeom prst="straightConnector1">
            <a:avLst/>
          </a:prstGeom>
          <a:ln w="38160">
            <a:solidFill>
              <a:srgbClr val="B0595D"/>
            </a:solidFill>
            <a:round/>
            <a:tailEnd type="triangle" w="med" len="med"/>
          </a:ln>
        </p:spPr>
      </p:cxnSp>
      <p:pic>
        <p:nvPicPr>
          <p:cNvPr id="120" name="Google Shape;162;p6"/>
          <p:cNvPicPr/>
          <p:nvPr/>
        </p:nvPicPr>
        <p:blipFill>
          <a:blip r:embed="rId3"/>
          <a:stretch/>
        </p:blipFill>
        <p:spPr>
          <a:xfrm>
            <a:off x="4641120" y="4210560"/>
            <a:ext cx="2928240" cy="1709280"/>
          </a:xfrm>
          <a:prstGeom prst="rect">
            <a:avLst/>
          </a:prstGeom>
          <a:ln w="0">
            <a:noFill/>
          </a:ln>
        </p:spPr>
      </p:pic>
      <p:cxnSp>
        <p:nvCxnSpPr>
          <p:cNvPr id="121" name="Google Shape;163;p6"/>
          <p:cNvCxnSpPr/>
          <p:nvPr/>
        </p:nvCxnSpPr>
        <p:spPr>
          <a:xfrm flipH="1">
            <a:off x="7436880" y="4744080"/>
            <a:ext cx="1377360" cy="1440"/>
          </a:xfrm>
          <a:prstGeom prst="straightConnector1">
            <a:avLst/>
          </a:prstGeom>
          <a:ln w="38160">
            <a:solidFill>
              <a:srgbClr val="B0595D"/>
            </a:solidFill>
            <a:round/>
            <a:tailEnd type="triangle" w="med" len="med"/>
          </a:ln>
        </p:spPr>
      </p:cxnSp>
      <p:pic>
        <p:nvPicPr>
          <p:cNvPr id="122" name="Google Shape;164;p6"/>
          <p:cNvPicPr/>
          <p:nvPr/>
        </p:nvPicPr>
        <p:blipFill>
          <a:blip r:embed="rId4"/>
          <a:stretch/>
        </p:blipFill>
        <p:spPr>
          <a:xfrm>
            <a:off x="8847360" y="4567680"/>
            <a:ext cx="3091680" cy="1462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69;p7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124" name="Google Shape;170;p7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Mandatory Claims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71;p7"/>
          <p:cNvSpPr/>
          <p:nvPr/>
        </p:nvSpPr>
        <p:spPr>
          <a:xfrm>
            <a:off x="275040" y="955080"/>
            <a:ext cx="11700000" cy="135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985255"/>
              </a:buClr>
              <a:buFont typeface="Noto Sans Symbols"/>
              <a:buChar char="❍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Required for nested token validation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6" name="Google Shape;172;p7"/>
          <p:cNvGraphicFramePr/>
          <p:nvPr/>
        </p:nvGraphicFramePr>
        <p:xfrm>
          <a:off x="351720" y="2508120"/>
          <a:ext cx="11576520" cy="3829320"/>
        </p:xfrm>
        <a:graphic>
          <a:graphicData uri="http://schemas.openxmlformats.org/drawingml/2006/table">
            <a:tbl>
              <a:tblPr/>
              <a:tblGrid>
                <a:gridCol w="150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Mandatory Claim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B059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Format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B059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B05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Issuer (iss)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IDClaim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The issuer identification, being composed either: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32000" lvl="1" indent="-216000">
                        <a:lnSpc>
                          <a:spcPct val="100000"/>
                        </a:lnSpc>
                        <a:spcBef>
                          <a:spcPts val="720"/>
                        </a:spcBef>
                        <a:buClr>
                          <a:srgbClr val="000000"/>
                        </a:buClr>
                        <a:buFont typeface="Noto Sans Symbols"/>
                        <a:buChar char="∙"/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 </a:t>
                      </a: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common name</a:t>
                      </a: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(CN), backed by an Identity Provider (IdP)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32000" lvl="1" indent="-216000">
                        <a:lnSpc>
                          <a:spcPct val="100000"/>
                        </a:lnSpc>
                        <a:spcBef>
                          <a:spcPts val="720"/>
                        </a:spcBef>
                        <a:buClr>
                          <a:srgbClr val="000000"/>
                        </a:buClr>
                        <a:buFont typeface="Noto Sans Symbols"/>
                        <a:buChar char="∙"/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 </a:t>
                      </a: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public key</a:t>
                      </a: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(PK), when an IdP is not available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32000" lvl="1" indent="-216000">
                        <a:lnSpc>
                          <a:spcPct val="100000"/>
                        </a:lnSpc>
                        <a:spcBef>
                          <a:spcPts val="720"/>
                        </a:spcBef>
                        <a:buClr>
                          <a:srgbClr val="000000"/>
                        </a:buClr>
                        <a:buFont typeface="Noto Sans Symbols"/>
                        <a:buChar char="∙"/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An </a:t>
                      </a: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identity document</a:t>
                      </a: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(ID), allowing to verify the signer identity and signature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Issued At Time (iat)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Epoch Time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 timestamp that specifies when the token was issued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Version (ver)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byte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Defines how the token should be understood and processed across various platforms (i.e., signature scheme and algorithm)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77;p8"/>
          <p:cNvPicPr/>
          <p:nvPr/>
        </p:nvPicPr>
        <p:blipFill>
          <a:blip r:embed="rId2"/>
          <a:stretch/>
        </p:blipFill>
        <p:spPr>
          <a:xfrm>
            <a:off x="0" y="0"/>
            <a:ext cx="12213720" cy="82620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178;p8"/>
          <p:cNvSpPr/>
          <p:nvPr/>
        </p:nvSpPr>
        <p:spPr>
          <a:xfrm>
            <a:off x="1343160" y="0"/>
            <a:ext cx="61743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FFFFFF"/>
                </a:solidFill>
                <a:latin typeface="Calibri"/>
                <a:ea typeface="Calibri"/>
              </a:rPr>
              <a:t>Signature Schemes:</a:t>
            </a:r>
            <a:r>
              <a:rPr lang="en-US" sz="3200" b="0" strike="noStrike" spc="-1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br>
              <a:rPr sz="3200"/>
            </a:br>
            <a:r>
              <a:rPr lang="en-US" sz="2600" b="0" strike="noStrike" spc="-1">
                <a:solidFill>
                  <a:srgbClr val="FFFFFF"/>
                </a:solidFill>
                <a:latin typeface="Calibri"/>
                <a:ea typeface="Calibri"/>
              </a:rPr>
              <a:t>Two modes of operation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79;p8"/>
          <p:cNvSpPr/>
          <p:nvPr/>
        </p:nvSpPr>
        <p:spPr>
          <a:xfrm>
            <a:off x="2005200" y="2022120"/>
            <a:ext cx="9846360" cy="141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B0595D"/>
                </a:solidFill>
                <a:latin typeface="Arial"/>
                <a:ea typeface="Arial"/>
              </a:rPr>
              <a:t>ID-mode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 Backed by an Identity Provider, allows</a:t>
            </a:r>
            <a:r>
              <a:rPr lang="en-US" sz="2800" b="0" strike="noStrike" spc="-1">
                <a:solidFill>
                  <a:srgbClr val="B0595D"/>
                </a:solidFill>
                <a:latin typeface="Arial"/>
                <a:ea typeface="Arial"/>
              </a:rPr>
              <a:t> </a:t>
            </a:r>
            <a:r>
              <a:rPr lang="en-US" sz="2800" b="1" strike="noStrike" spc="-1">
                <a:solidFill>
                  <a:srgbClr val="B0595D"/>
                </a:solidFill>
                <a:latin typeface="Arial"/>
                <a:ea typeface="Arial"/>
              </a:rPr>
              <a:t>signer identification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lang="en-US" sz="2800" b="1" strike="noStrike" spc="-1">
                <a:solidFill>
                  <a:srgbClr val="B0595D"/>
                </a:solidFill>
                <a:latin typeface="Arial"/>
                <a:ea typeface="Arial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Binds the issuer to an</a:t>
            </a:r>
            <a:r>
              <a:rPr lang="en-US" sz="2800" b="1" strike="noStrike" spc="-1">
                <a:solidFill>
                  <a:srgbClr val="B0595D"/>
                </a:solidFill>
                <a:latin typeface="Arial"/>
                <a:ea typeface="Arial"/>
              </a:rPr>
              <a:t> unique audience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Google Shape;180;p8"/>
          <p:cNvPicPr/>
          <p:nvPr/>
        </p:nvPicPr>
        <p:blipFill>
          <a:blip r:embed="rId3"/>
          <a:stretch/>
        </p:blipFill>
        <p:spPr>
          <a:xfrm>
            <a:off x="9844560" y="4338360"/>
            <a:ext cx="2007000" cy="1595520"/>
          </a:xfrm>
          <a:prstGeom prst="rect">
            <a:avLst/>
          </a:prstGeom>
          <a:ln w="0">
            <a:noFill/>
          </a:ln>
        </p:spPr>
      </p:pic>
      <p:sp>
        <p:nvSpPr>
          <p:cNvPr id="131" name="Google Shape;181;p8"/>
          <p:cNvSpPr/>
          <p:nvPr/>
        </p:nvSpPr>
        <p:spPr>
          <a:xfrm>
            <a:off x="277200" y="4300560"/>
            <a:ext cx="9644760" cy="16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B0595D"/>
                </a:solidFill>
                <a:latin typeface="Arial"/>
                <a:ea typeface="Arial"/>
              </a:rPr>
              <a:t>Anonymous mode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 Uses ephemeral keys and a signature aggregation scheme to </a:t>
            </a:r>
            <a:r>
              <a:rPr lang="en-US" sz="2800" b="1" strike="noStrike" spc="-1">
                <a:solidFill>
                  <a:srgbClr val="B0595D"/>
                </a:solidFill>
                <a:latin typeface="Arial"/>
                <a:ea typeface="Arial"/>
              </a:rPr>
              <a:t>create smaller tokens and a cryptographic chain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Google Shape;182;p8"/>
          <p:cNvPicPr/>
          <p:nvPr/>
        </p:nvPicPr>
        <p:blipFill>
          <a:blip r:embed="rId4"/>
          <a:stretch/>
        </p:blipFill>
        <p:spPr>
          <a:xfrm>
            <a:off x="277200" y="1725120"/>
            <a:ext cx="2007000" cy="2007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87;p9"/>
          <p:cNvSpPr/>
          <p:nvPr/>
        </p:nvSpPr>
        <p:spPr>
          <a:xfrm>
            <a:off x="1440" y="0"/>
            <a:ext cx="6281640" cy="6857640"/>
          </a:xfrm>
          <a:prstGeom prst="rect">
            <a:avLst/>
          </a:prstGeom>
          <a:solidFill>
            <a:srgbClr val="B0595D"/>
          </a:solidFill>
          <a:ln w="9525">
            <a:solidFill>
              <a:srgbClr val="B059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Google Shape;188;p9"/>
          <p:cNvSpPr/>
          <p:nvPr/>
        </p:nvSpPr>
        <p:spPr>
          <a:xfrm>
            <a:off x="-2160" y="41040"/>
            <a:ext cx="6286680" cy="13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Calibri"/>
              </a:rPr>
              <a:t>ID Mode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89;p9"/>
          <p:cNvSpPr/>
          <p:nvPr/>
        </p:nvSpPr>
        <p:spPr>
          <a:xfrm>
            <a:off x="848880" y="2301840"/>
            <a:ext cx="4583880" cy="109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libri"/>
                <a:ea typeface="Calibri"/>
              </a:rPr>
              <a:t>Link between </a:t>
            </a:r>
            <a:br>
              <a:rPr sz="1800"/>
            </a:br>
            <a:r>
              <a:rPr lang="en-US" sz="4000" b="1" strike="noStrike" spc="-1">
                <a:solidFill>
                  <a:srgbClr val="FFFFFF"/>
                </a:solidFill>
                <a:latin typeface="Calibri"/>
                <a:ea typeface="Calibri"/>
              </a:rPr>
              <a:t>issuer and audience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6" name="Google Shape;190;p9"/>
          <p:cNvCxnSpPr/>
          <p:nvPr/>
        </p:nvCxnSpPr>
        <p:spPr>
          <a:xfrm>
            <a:off x="6289920" y="0"/>
            <a:ext cx="1440" cy="6858720"/>
          </a:xfrm>
          <a:prstGeom prst="straightConnector1">
            <a:avLst/>
          </a:prstGeom>
          <a:ln w="57225">
            <a:solidFill>
              <a:srgbClr val="985255"/>
            </a:solidFill>
            <a:round/>
          </a:ln>
        </p:spPr>
      </p:cxnSp>
      <p:pic>
        <p:nvPicPr>
          <p:cNvPr id="137" name="Google Shape;191;p9"/>
          <p:cNvPicPr/>
          <p:nvPr/>
        </p:nvPicPr>
        <p:blipFill>
          <a:blip r:embed="rId2"/>
          <a:stretch/>
        </p:blipFill>
        <p:spPr>
          <a:xfrm>
            <a:off x="8407440" y="3157560"/>
            <a:ext cx="2189520" cy="2021760"/>
          </a:xfrm>
          <a:prstGeom prst="rect">
            <a:avLst/>
          </a:prstGeom>
          <a:ln w="0">
            <a:noFill/>
          </a:ln>
        </p:spPr>
      </p:pic>
      <p:grpSp>
        <p:nvGrpSpPr>
          <p:cNvPr id="138" name="Google Shape;192;p9"/>
          <p:cNvGrpSpPr/>
          <p:nvPr/>
        </p:nvGrpSpPr>
        <p:grpSpPr>
          <a:xfrm>
            <a:off x="8067960" y="1699920"/>
            <a:ext cx="2657880" cy="4217040"/>
            <a:chOff x="8067960" y="1699920"/>
            <a:chExt cx="2657880" cy="4217040"/>
          </a:xfrm>
        </p:grpSpPr>
        <p:pic>
          <p:nvPicPr>
            <p:cNvPr id="139" name="Google Shape;193;p9"/>
            <p:cNvPicPr/>
            <p:nvPr/>
          </p:nvPicPr>
          <p:blipFill>
            <a:blip r:embed="rId3"/>
            <a:stretch/>
          </p:blipFill>
          <p:spPr>
            <a:xfrm>
              <a:off x="8279640" y="1699920"/>
              <a:ext cx="2446200" cy="4217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0" name="Google Shape;194;p9"/>
            <p:cNvPicPr/>
            <p:nvPr/>
          </p:nvPicPr>
          <p:blipFill>
            <a:blip r:embed="rId4"/>
            <a:stretch/>
          </p:blipFill>
          <p:spPr>
            <a:xfrm>
              <a:off x="8067960" y="2916000"/>
              <a:ext cx="370080" cy="57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1" name="Google Shape;195;p9"/>
          <p:cNvGrpSpPr/>
          <p:nvPr/>
        </p:nvGrpSpPr>
        <p:grpSpPr>
          <a:xfrm>
            <a:off x="7996320" y="204120"/>
            <a:ext cx="2857320" cy="6488640"/>
            <a:chOff x="7996320" y="204120"/>
            <a:chExt cx="2857320" cy="6488640"/>
          </a:xfrm>
        </p:grpSpPr>
        <p:grpSp>
          <p:nvGrpSpPr>
            <p:cNvPr id="142" name="Google Shape;196;p9"/>
            <p:cNvGrpSpPr/>
            <p:nvPr/>
          </p:nvGrpSpPr>
          <p:grpSpPr>
            <a:xfrm>
              <a:off x="7996320" y="204120"/>
              <a:ext cx="2857320" cy="6488640"/>
              <a:chOff x="7996320" y="204120"/>
              <a:chExt cx="2857320" cy="6488640"/>
            </a:xfrm>
          </p:grpSpPr>
          <p:pic>
            <p:nvPicPr>
              <p:cNvPr id="143" name="Google Shape;197;p9"/>
              <p:cNvPicPr/>
              <p:nvPr/>
            </p:nvPicPr>
            <p:blipFill>
              <a:blip r:embed="rId5"/>
              <a:stretch/>
            </p:blipFill>
            <p:spPr>
              <a:xfrm>
                <a:off x="8151120" y="204120"/>
                <a:ext cx="2702520" cy="6488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44" name="Google Shape;198;p9"/>
              <p:cNvPicPr/>
              <p:nvPr/>
            </p:nvPicPr>
            <p:blipFill>
              <a:blip r:embed="rId4"/>
              <a:stretch/>
            </p:blipFill>
            <p:spPr>
              <a:xfrm>
                <a:off x="7996320" y="1476360"/>
                <a:ext cx="370080" cy="57384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45" name="Google Shape;199;p9"/>
            <p:cNvPicPr/>
            <p:nvPr/>
          </p:nvPicPr>
          <p:blipFill>
            <a:blip r:embed="rId4"/>
            <a:stretch/>
          </p:blipFill>
          <p:spPr>
            <a:xfrm>
              <a:off x="8068320" y="2916360"/>
              <a:ext cx="370080" cy="573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6" name="Google Shape;200;p9"/>
          <p:cNvSpPr/>
          <p:nvPr/>
        </p:nvSpPr>
        <p:spPr>
          <a:xfrm>
            <a:off x="163800" y="4150080"/>
            <a:ext cx="5961600" cy="97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  <a:ea typeface="Arial"/>
              </a:rPr>
              <a:t>Bearer must match audience (mandatory)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  <a:ea typeface="Arial"/>
              </a:rPr>
              <a:t>No replay attacks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Google Shape;201;p9"/>
          <p:cNvPicPr/>
          <p:nvPr/>
        </p:nvPicPr>
        <p:blipFill>
          <a:blip r:embed="rId6"/>
          <a:stretch/>
        </p:blipFill>
        <p:spPr>
          <a:xfrm>
            <a:off x="10002960" y="2539080"/>
            <a:ext cx="598680" cy="54396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202;p9"/>
          <p:cNvPicPr/>
          <p:nvPr/>
        </p:nvPicPr>
        <p:blipFill>
          <a:blip r:embed="rId6"/>
          <a:stretch/>
        </p:blipFill>
        <p:spPr>
          <a:xfrm>
            <a:off x="10019880" y="4014360"/>
            <a:ext cx="598680" cy="51660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203;p9"/>
          <p:cNvPicPr/>
          <p:nvPr/>
        </p:nvPicPr>
        <p:blipFill>
          <a:blip r:embed="rId6"/>
          <a:stretch/>
        </p:blipFill>
        <p:spPr>
          <a:xfrm>
            <a:off x="10152360" y="1063080"/>
            <a:ext cx="598680" cy="543960"/>
          </a:xfrm>
          <a:prstGeom prst="rect">
            <a:avLst/>
          </a:prstGeom>
          <a:ln w="0">
            <a:noFill/>
          </a:ln>
        </p:spPr>
      </p:pic>
      <p:grpSp>
        <p:nvGrpSpPr>
          <p:cNvPr id="150" name="Group 149"/>
          <p:cNvGrpSpPr/>
          <p:nvPr/>
        </p:nvGrpSpPr>
        <p:grpSpPr>
          <a:xfrm>
            <a:off x="1582560" y="6095880"/>
            <a:ext cx="3119400" cy="304920"/>
            <a:chOff x="1582560" y="6095880"/>
            <a:chExt cx="3119400" cy="304920"/>
          </a:xfrm>
        </p:grpSpPr>
        <p:sp>
          <p:nvSpPr>
            <p:cNvPr id="151" name="Rectangle 150"/>
            <p:cNvSpPr/>
            <p:nvPr/>
          </p:nvSpPr>
          <p:spPr>
            <a:xfrm>
              <a:off x="1582560" y="6095880"/>
              <a:ext cx="599400" cy="304920"/>
            </a:xfrm>
            <a:prstGeom prst="rect">
              <a:avLst/>
            </a:prstGeom>
            <a:solidFill>
              <a:srgbClr val="DDE8CB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WL1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2842560" y="6095880"/>
              <a:ext cx="599400" cy="304920"/>
            </a:xfrm>
            <a:prstGeom prst="rect">
              <a:avLst/>
            </a:prstGeom>
            <a:solidFill>
              <a:srgbClr val="FFA6A6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WL2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4102560" y="6095880"/>
              <a:ext cx="599400" cy="304920"/>
            </a:xfrm>
            <a:prstGeom prst="rect">
              <a:avLst/>
            </a:prstGeom>
            <a:solidFill>
              <a:srgbClr val="B4C7DC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WL3</a:t>
              </a:r>
            </a:p>
          </p:txBody>
        </p:sp>
        <p:sp>
          <p:nvSpPr>
            <p:cNvPr id="154" name="Straight Connector 153"/>
            <p:cNvSpPr/>
            <p:nvPr/>
          </p:nvSpPr>
          <p:spPr>
            <a:xfrm flipV="1">
              <a:off x="2181960" y="6253920"/>
              <a:ext cx="660600" cy="10800"/>
            </a:xfrm>
            <a:prstGeom prst="line">
              <a:avLst/>
            </a:prstGeom>
            <a:ln w="19080">
              <a:solidFill>
                <a:srgbClr val="FFFFFF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-43560" rIns="99360" bIns="-4356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Straight Connector 154"/>
            <p:cNvSpPr/>
            <p:nvPr/>
          </p:nvSpPr>
          <p:spPr>
            <a:xfrm flipV="1">
              <a:off x="2177280" y="6250680"/>
              <a:ext cx="660600" cy="10800"/>
            </a:xfrm>
            <a:prstGeom prst="line">
              <a:avLst/>
            </a:prstGeom>
            <a:ln w="19080">
              <a:solidFill>
                <a:srgbClr val="FFFFFF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-43560" rIns="99360" bIns="-4356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Straight Connector 155"/>
            <p:cNvSpPr/>
            <p:nvPr/>
          </p:nvSpPr>
          <p:spPr>
            <a:xfrm flipV="1">
              <a:off x="3432600" y="6247440"/>
              <a:ext cx="660600" cy="10800"/>
            </a:xfrm>
            <a:prstGeom prst="line">
              <a:avLst/>
            </a:prstGeom>
            <a:ln w="19080">
              <a:solidFill>
                <a:srgbClr val="FFFFFF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-43560" rIns="99360" bIns="-4356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08;p10"/>
          <p:cNvSpPr/>
          <p:nvPr/>
        </p:nvSpPr>
        <p:spPr>
          <a:xfrm>
            <a:off x="-1800" y="8640"/>
            <a:ext cx="6281640" cy="6857640"/>
          </a:xfrm>
          <a:prstGeom prst="rect">
            <a:avLst/>
          </a:prstGeom>
          <a:solidFill>
            <a:srgbClr val="B0595D"/>
          </a:solidFill>
          <a:ln w="9525">
            <a:solidFill>
              <a:srgbClr val="B059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cxnSp>
        <p:nvCxnSpPr>
          <p:cNvPr id="158" name="Google Shape;209;p10"/>
          <p:cNvCxnSpPr/>
          <p:nvPr/>
        </p:nvCxnSpPr>
        <p:spPr>
          <a:xfrm>
            <a:off x="6289920" y="0"/>
            <a:ext cx="720" cy="6858720"/>
          </a:xfrm>
          <a:prstGeom prst="straightConnector1">
            <a:avLst/>
          </a:prstGeom>
          <a:ln w="57225">
            <a:solidFill>
              <a:srgbClr val="985255"/>
            </a:solidFill>
            <a:round/>
          </a:ln>
        </p:spPr>
      </p:cxnSp>
      <p:sp>
        <p:nvSpPr>
          <p:cNvPr id="159" name="Google Shape;210;p10"/>
          <p:cNvSpPr/>
          <p:nvPr/>
        </p:nvSpPr>
        <p:spPr>
          <a:xfrm>
            <a:off x="360" y="41040"/>
            <a:ext cx="6286680" cy="13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Calibri"/>
              </a:rPr>
              <a:t>Anonymous mode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11;p10"/>
          <p:cNvSpPr/>
          <p:nvPr/>
        </p:nvSpPr>
        <p:spPr>
          <a:xfrm>
            <a:off x="355680" y="1797840"/>
            <a:ext cx="5562360" cy="109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b="0" strike="noStrike" spc="-1">
                <a:solidFill>
                  <a:srgbClr val="FFFFFF"/>
                </a:solidFill>
                <a:latin typeface="Calibri"/>
                <a:ea typeface="Calibri"/>
              </a:rPr>
              <a:t> Schnorr signature Concatenation (SchoCo)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Google Shape;212;p10"/>
          <p:cNvPicPr/>
          <p:nvPr/>
        </p:nvPicPr>
        <p:blipFill>
          <a:blip r:embed="rId2"/>
          <a:stretch/>
        </p:blipFill>
        <p:spPr>
          <a:xfrm rot="11188200">
            <a:off x="10842120" y="4694400"/>
            <a:ext cx="519480" cy="877680"/>
          </a:xfrm>
          <a:prstGeom prst="rect">
            <a:avLst/>
          </a:prstGeom>
          <a:ln w="0">
            <a:noFill/>
          </a:ln>
        </p:spPr>
      </p:pic>
      <p:pic>
        <p:nvPicPr>
          <p:cNvPr id="162" name="Google Shape;213;p10"/>
          <p:cNvPicPr/>
          <p:nvPr/>
        </p:nvPicPr>
        <p:blipFill>
          <a:blip r:embed="rId2"/>
          <a:stretch/>
        </p:blipFill>
        <p:spPr>
          <a:xfrm rot="11187600">
            <a:off x="10829160" y="5631480"/>
            <a:ext cx="546120" cy="922320"/>
          </a:xfrm>
          <a:prstGeom prst="rect">
            <a:avLst/>
          </a:prstGeom>
          <a:ln w="0">
            <a:noFill/>
          </a:ln>
        </p:spPr>
      </p:pic>
      <p:sp>
        <p:nvSpPr>
          <p:cNvPr id="163" name="Google Shape;214;p10"/>
          <p:cNvSpPr/>
          <p:nvPr/>
        </p:nvSpPr>
        <p:spPr>
          <a:xfrm>
            <a:off x="376200" y="3415320"/>
            <a:ext cx="5552640" cy="98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Arial"/>
                <a:ea typeface="Arial"/>
              </a:rPr>
              <a:t>Reduces up to 50% signature size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Google Shape;215;p10"/>
          <p:cNvPicPr/>
          <p:nvPr/>
        </p:nvPicPr>
        <p:blipFill>
          <a:blip r:embed="rId3"/>
          <a:stretch/>
        </p:blipFill>
        <p:spPr>
          <a:xfrm>
            <a:off x="8112240" y="3096000"/>
            <a:ext cx="2464200" cy="1952280"/>
          </a:xfrm>
          <a:prstGeom prst="rect">
            <a:avLst/>
          </a:prstGeom>
          <a:ln w="0">
            <a:noFill/>
          </a:ln>
        </p:spPr>
      </p:pic>
      <p:pic>
        <p:nvPicPr>
          <p:cNvPr id="165" name="Google Shape;216;p10"/>
          <p:cNvPicPr/>
          <p:nvPr/>
        </p:nvPicPr>
        <p:blipFill>
          <a:blip r:embed="rId4"/>
          <a:stretch/>
        </p:blipFill>
        <p:spPr>
          <a:xfrm>
            <a:off x="8015040" y="1578600"/>
            <a:ext cx="2648520" cy="4232160"/>
          </a:xfrm>
          <a:prstGeom prst="rect">
            <a:avLst/>
          </a:prstGeom>
          <a:ln w="0">
            <a:noFill/>
          </a:ln>
        </p:spPr>
      </p:pic>
      <p:pic>
        <p:nvPicPr>
          <p:cNvPr id="166" name="Google Shape;217;p10"/>
          <p:cNvPicPr/>
          <p:nvPr/>
        </p:nvPicPr>
        <p:blipFill>
          <a:blip r:embed="rId5"/>
          <a:stretch/>
        </p:blipFill>
        <p:spPr>
          <a:xfrm>
            <a:off x="7920720" y="105480"/>
            <a:ext cx="2921400" cy="6546240"/>
          </a:xfrm>
          <a:prstGeom prst="rect">
            <a:avLst/>
          </a:prstGeom>
          <a:ln w="0">
            <a:noFill/>
          </a:ln>
        </p:spPr>
      </p:pic>
      <p:sp>
        <p:nvSpPr>
          <p:cNvPr id="167" name="Google Shape;218;p10"/>
          <p:cNvSpPr/>
          <p:nvPr/>
        </p:nvSpPr>
        <p:spPr>
          <a:xfrm>
            <a:off x="823680" y="5221800"/>
            <a:ext cx="2500560" cy="678960"/>
          </a:xfrm>
          <a:prstGeom prst="rect">
            <a:avLst/>
          </a:prstGeom>
          <a:solidFill>
            <a:srgbClr val="EAF1DD"/>
          </a:solidFill>
          <a:ln w="19075">
            <a:solidFill>
              <a:srgbClr val="7692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Signature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19;p10"/>
          <p:cNvSpPr/>
          <p:nvPr/>
        </p:nvSpPr>
        <p:spPr>
          <a:xfrm>
            <a:off x="3897000" y="4899600"/>
            <a:ext cx="1306800" cy="553320"/>
          </a:xfrm>
          <a:prstGeom prst="rect">
            <a:avLst/>
          </a:prstGeom>
          <a:solidFill>
            <a:srgbClr val="EAF1DD"/>
          </a:solidFill>
          <a:ln w="19075">
            <a:solidFill>
              <a:srgbClr val="7692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ial"/>
              </a:rPr>
              <a:t>Partial Signature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20;p10"/>
          <p:cNvSpPr/>
          <p:nvPr/>
        </p:nvSpPr>
        <p:spPr>
          <a:xfrm>
            <a:off x="3897000" y="5727600"/>
            <a:ext cx="1316880" cy="553320"/>
          </a:xfrm>
          <a:prstGeom prst="rect">
            <a:avLst/>
          </a:prstGeom>
          <a:solidFill>
            <a:srgbClr val="F2DADA"/>
          </a:solidFill>
          <a:ln w="19075">
            <a:solidFill>
              <a:srgbClr val="C050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ial"/>
              </a:rPr>
              <a:t>Aggregation Key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0" name="Google Shape;221;p10"/>
          <p:cNvCxnSpPr/>
          <p:nvPr/>
        </p:nvCxnSpPr>
        <p:spPr>
          <a:xfrm flipV="1">
            <a:off x="3317760" y="5200560"/>
            <a:ext cx="580320" cy="351000"/>
          </a:xfrm>
          <a:prstGeom prst="straightConnector1">
            <a:avLst/>
          </a:prstGeom>
          <a:ln w="29150">
            <a:solidFill>
              <a:srgbClr val="FFFFFF"/>
            </a:solidFill>
            <a:round/>
            <a:tailEnd type="triangle" w="med" len="med"/>
          </a:ln>
        </p:spPr>
      </p:cxnSp>
      <p:cxnSp>
        <p:nvCxnSpPr>
          <p:cNvPr id="171" name="Google Shape;222;p10"/>
          <p:cNvCxnSpPr/>
          <p:nvPr/>
        </p:nvCxnSpPr>
        <p:spPr>
          <a:xfrm>
            <a:off x="3317760" y="5550480"/>
            <a:ext cx="580320" cy="484200"/>
          </a:xfrm>
          <a:prstGeom prst="straightConnector1">
            <a:avLst/>
          </a:prstGeom>
          <a:ln w="29150">
            <a:solidFill>
              <a:srgbClr val="FFFFFF"/>
            </a:solidFill>
            <a:round/>
            <a:tailEnd type="triangle" w="med" len="med"/>
          </a:ln>
        </p:spPr>
      </p:cxnSp>
      <p:sp>
        <p:nvSpPr>
          <p:cNvPr id="172" name="Google Shape;223;p10"/>
          <p:cNvSpPr/>
          <p:nvPr/>
        </p:nvSpPr>
        <p:spPr>
          <a:xfrm>
            <a:off x="1158480" y="4839480"/>
            <a:ext cx="16826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  <a:ea typeface="Arial"/>
              </a:rPr>
              <a:t>64 bytes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24;p10"/>
          <p:cNvSpPr/>
          <p:nvPr/>
        </p:nvSpPr>
        <p:spPr>
          <a:xfrm>
            <a:off x="3897000" y="4517280"/>
            <a:ext cx="130140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  <a:ea typeface="Arial"/>
              </a:rPr>
              <a:t>32 bytes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229;p11"/>
          <p:cNvSpPr/>
          <p:nvPr/>
        </p:nvSpPr>
        <p:spPr>
          <a:xfrm>
            <a:off x="1568880" y="2897640"/>
            <a:ext cx="10166400" cy="971640"/>
          </a:xfrm>
          <a:prstGeom prst="rect">
            <a:avLst/>
          </a:prstGeom>
          <a:solidFill>
            <a:srgbClr val="F0F5FA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" name="Google Shape;230;p11"/>
          <p:cNvSpPr/>
          <p:nvPr/>
        </p:nvSpPr>
        <p:spPr>
          <a:xfrm>
            <a:off x="9379800" y="3007440"/>
            <a:ext cx="2163600" cy="726480"/>
          </a:xfrm>
          <a:prstGeom prst="rect">
            <a:avLst/>
          </a:prstGeom>
          <a:solidFill>
            <a:srgbClr val="BACDDF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Target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workload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31;p11"/>
          <p:cNvSpPr/>
          <p:nvPr/>
        </p:nvSpPr>
        <p:spPr>
          <a:xfrm>
            <a:off x="4105440" y="3394800"/>
            <a:ext cx="1472400" cy="360"/>
          </a:xfrm>
          <a:custGeom>
            <a:avLst/>
            <a:gdLst>
              <a:gd name="textAreaLeft" fmla="*/ 0 w 1472400"/>
              <a:gd name="textAreaRight" fmla="*/ 1473480 w 147240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9150">
            <a:solidFill>
              <a:srgbClr val="4EA04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040" tIns="0" rIns="9504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" name="Google Shape;232;p11"/>
          <p:cNvSpPr/>
          <p:nvPr/>
        </p:nvSpPr>
        <p:spPr>
          <a:xfrm>
            <a:off x="7812360" y="3394800"/>
            <a:ext cx="1510200" cy="360"/>
          </a:xfrm>
          <a:custGeom>
            <a:avLst/>
            <a:gdLst>
              <a:gd name="textAreaLeft" fmla="*/ 0 w 1510200"/>
              <a:gd name="textAreaRight" fmla="*/ 1511280 w 151020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9150">
            <a:solidFill>
              <a:srgbClr val="4EA04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040" tIns="0" rIns="9504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" name="Google Shape;233;p11"/>
          <p:cNvSpPr/>
          <p:nvPr/>
        </p:nvSpPr>
        <p:spPr>
          <a:xfrm>
            <a:off x="5663520" y="3068640"/>
            <a:ext cx="2163600" cy="705240"/>
          </a:xfrm>
          <a:prstGeom prst="rect">
            <a:avLst/>
          </a:prstGeom>
          <a:solidFill>
            <a:srgbClr val="355269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Middle-tier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34;p11"/>
          <p:cNvSpPr/>
          <p:nvPr/>
        </p:nvSpPr>
        <p:spPr>
          <a:xfrm>
            <a:off x="5627520" y="3044880"/>
            <a:ext cx="2163600" cy="705240"/>
          </a:xfrm>
          <a:prstGeom prst="rect">
            <a:avLst/>
          </a:prstGeom>
          <a:solidFill>
            <a:srgbClr val="306DAD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Middle-tier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35;p11"/>
          <p:cNvSpPr/>
          <p:nvPr/>
        </p:nvSpPr>
        <p:spPr>
          <a:xfrm>
            <a:off x="5591520" y="3007440"/>
            <a:ext cx="2163600" cy="727200"/>
          </a:xfrm>
          <a:prstGeom prst="rect">
            <a:avLst/>
          </a:prstGeom>
          <a:solidFill>
            <a:srgbClr val="BACDDF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Middle-tier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Google Shape;236;p11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182" name="Google Shape;237;p11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Use case: DSVID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38;p11"/>
          <p:cNvSpPr/>
          <p:nvPr/>
        </p:nvSpPr>
        <p:spPr>
          <a:xfrm>
            <a:off x="228600" y="965160"/>
            <a:ext cx="10985400" cy="10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Delegated </a:t>
            </a:r>
            <a:r>
              <a:rPr lang="en-US" sz="2800" b="1" strike="noStrike" spc="-1">
                <a:solidFill>
                  <a:srgbClr val="B0595D"/>
                </a:solidFill>
                <a:latin typeface="Calibri"/>
                <a:ea typeface="Calibri"/>
              </a:rPr>
              <a:t>SVID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 (DSVID): Uses the nested token to create a delegation chain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39;p11"/>
          <p:cNvSpPr/>
          <p:nvPr/>
        </p:nvSpPr>
        <p:spPr>
          <a:xfrm>
            <a:off x="1928520" y="3004920"/>
            <a:ext cx="2163600" cy="726480"/>
          </a:xfrm>
          <a:prstGeom prst="rect">
            <a:avLst/>
          </a:prstGeom>
          <a:solidFill>
            <a:srgbClr val="BACDDF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Front-end 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workload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240;p11"/>
          <p:cNvSpPr/>
          <p:nvPr/>
        </p:nvSpPr>
        <p:spPr>
          <a:xfrm>
            <a:off x="1928520" y="4753440"/>
            <a:ext cx="2163600" cy="729000"/>
          </a:xfrm>
          <a:prstGeom prst="rect">
            <a:avLst/>
          </a:prstGeom>
          <a:solidFill>
            <a:srgbClr val="BACDDF"/>
          </a:solidFill>
          <a:ln w="9525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TTP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241;p11"/>
          <p:cNvSpPr/>
          <p:nvPr/>
        </p:nvSpPr>
        <p:spPr>
          <a:xfrm>
            <a:off x="5029200" y="4753440"/>
            <a:ext cx="6647400" cy="729000"/>
          </a:xfrm>
          <a:prstGeom prst="rect">
            <a:avLst/>
          </a:prstGeom>
          <a:solidFill>
            <a:srgbClr val="ADECC3"/>
          </a:solidFill>
          <a:ln w="9525">
            <a:solidFill>
              <a:srgbClr val="2E992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SPIRE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242;p11"/>
          <p:cNvSpPr/>
          <p:nvPr/>
        </p:nvSpPr>
        <p:spPr>
          <a:xfrm>
            <a:off x="6276240" y="6228360"/>
            <a:ext cx="4921200" cy="536760"/>
          </a:xfrm>
          <a:prstGeom prst="rect">
            <a:avLst/>
          </a:prstGeom>
          <a:noFill/>
          <a:ln w="9525">
            <a:solidFill>
              <a:srgbClr val="808080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88" name="Google Shape;243;p11"/>
          <p:cNvGrpSpPr/>
          <p:nvPr/>
        </p:nvGrpSpPr>
        <p:grpSpPr>
          <a:xfrm>
            <a:off x="1112760" y="3777120"/>
            <a:ext cx="1513080" cy="987480"/>
            <a:chOff x="1112760" y="3777120"/>
            <a:chExt cx="1513080" cy="987480"/>
          </a:xfrm>
        </p:grpSpPr>
        <p:sp>
          <p:nvSpPr>
            <p:cNvPr id="189" name="Google Shape;244;p11"/>
            <p:cNvSpPr/>
            <p:nvPr/>
          </p:nvSpPr>
          <p:spPr>
            <a:xfrm>
              <a:off x="2625480" y="3777120"/>
              <a:ext cx="360" cy="987480"/>
            </a:xfrm>
            <a:custGeom>
              <a:avLst/>
              <a:gdLst>
                <a:gd name="textAreaLeft" fmla="*/ 0 w 360"/>
                <a:gd name="textAreaRight" fmla="*/ 2880 w 360"/>
                <a:gd name="textAreaTop" fmla="*/ 0 h 987480"/>
                <a:gd name="textAreaBottom" fmla="*/ 988560 h 9874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9150">
              <a:solidFill>
                <a:srgbClr val="4EA044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5040" tIns="50040" rIns="95040" bIns="5004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190" name="Google Shape;245;p11"/>
            <p:cNvPicPr/>
            <p:nvPr/>
          </p:nvPicPr>
          <p:blipFill>
            <a:blip r:embed="rId3"/>
            <a:stretch/>
          </p:blipFill>
          <p:spPr>
            <a:xfrm>
              <a:off x="2156400" y="4140720"/>
              <a:ext cx="426600" cy="428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1" name="Google Shape;246;p11"/>
            <p:cNvSpPr/>
            <p:nvPr/>
          </p:nvSpPr>
          <p:spPr>
            <a:xfrm>
              <a:off x="1112760" y="413676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" name="Google Shape;247;p11"/>
          <p:cNvGrpSpPr/>
          <p:nvPr/>
        </p:nvGrpSpPr>
        <p:grpSpPr>
          <a:xfrm>
            <a:off x="3017520" y="3785040"/>
            <a:ext cx="1058040" cy="987840"/>
            <a:chOff x="3017520" y="3785040"/>
            <a:chExt cx="1058040" cy="987840"/>
          </a:xfrm>
        </p:grpSpPr>
        <p:sp>
          <p:nvSpPr>
            <p:cNvPr id="193" name="Google Shape;248;p11"/>
            <p:cNvSpPr/>
            <p:nvPr/>
          </p:nvSpPr>
          <p:spPr>
            <a:xfrm rot="10800000">
              <a:off x="3495960" y="3785040"/>
              <a:ext cx="360" cy="987840"/>
            </a:xfrm>
            <a:custGeom>
              <a:avLst/>
              <a:gdLst>
                <a:gd name="textAreaLeft" fmla="*/ 0 w 360"/>
                <a:gd name="textAreaRight" fmla="*/ 2880 w 360"/>
                <a:gd name="textAreaTop" fmla="*/ 0 h 987840"/>
                <a:gd name="textAreaBottom" fmla="*/ 988920 h 9878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9150">
              <a:solidFill>
                <a:srgbClr val="4EA044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5040" tIns="50040" rIns="95040" bIns="5004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194" name="Google Shape;249;p11"/>
            <p:cNvPicPr/>
            <p:nvPr/>
          </p:nvPicPr>
          <p:blipFill>
            <a:blip r:embed="rId4"/>
            <a:stretch/>
          </p:blipFill>
          <p:spPr>
            <a:xfrm>
              <a:off x="3627000" y="4137120"/>
              <a:ext cx="448560" cy="466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5" name="Google Shape;250;p11"/>
            <p:cNvSpPr/>
            <p:nvPr/>
          </p:nvSpPr>
          <p:spPr>
            <a:xfrm>
              <a:off x="3017520" y="414972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4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Google Shape;251;p11"/>
          <p:cNvGrpSpPr/>
          <p:nvPr/>
        </p:nvGrpSpPr>
        <p:grpSpPr>
          <a:xfrm>
            <a:off x="-145800" y="2285280"/>
            <a:ext cx="2061360" cy="1396800"/>
            <a:chOff x="-145800" y="2285280"/>
            <a:chExt cx="2061360" cy="1396800"/>
          </a:xfrm>
        </p:grpSpPr>
        <p:grpSp>
          <p:nvGrpSpPr>
            <p:cNvPr id="197" name="Google Shape;252;p11"/>
            <p:cNvGrpSpPr/>
            <p:nvPr/>
          </p:nvGrpSpPr>
          <p:grpSpPr>
            <a:xfrm>
              <a:off x="-145800" y="2491920"/>
              <a:ext cx="2061360" cy="1190160"/>
              <a:chOff x="-145800" y="2491920"/>
              <a:chExt cx="2061360" cy="1190160"/>
            </a:xfrm>
          </p:grpSpPr>
          <p:sp>
            <p:nvSpPr>
              <p:cNvPr id="198" name="Google Shape;253;p11"/>
              <p:cNvSpPr/>
              <p:nvPr/>
            </p:nvSpPr>
            <p:spPr>
              <a:xfrm>
                <a:off x="187200" y="3390840"/>
                <a:ext cx="1728360" cy="360"/>
              </a:xfrm>
              <a:custGeom>
                <a:avLst/>
                <a:gdLst>
                  <a:gd name="textAreaLeft" fmla="*/ 0 w 1728360"/>
                  <a:gd name="textAreaRight" fmla="*/ 1729440 w 1728360"/>
                  <a:gd name="textAreaTop" fmla="*/ 0 h 360"/>
                  <a:gd name="textAreaBottom" fmla="*/ 2880 h 360"/>
                </a:gdLst>
                <a:ahLst/>
                <a:cxnLst/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9150">
                <a:solidFill>
                  <a:srgbClr val="80808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t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pic>
            <p:nvPicPr>
              <p:cNvPr id="199" name="Google Shape;254;p11"/>
              <p:cNvPicPr/>
              <p:nvPr/>
            </p:nvPicPr>
            <p:blipFill>
              <a:blip r:embed="rId5"/>
              <a:stretch/>
            </p:blipFill>
            <p:spPr>
              <a:xfrm>
                <a:off x="-145800" y="2491920"/>
                <a:ext cx="1190520" cy="11901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200" name="Google Shape;255;p11"/>
            <p:cNvPicPr/>
            <p:nvPr/>
          </p:nvPicPr>
          <p:blipFill>
            <a:blip r:embed="rId3"/>
            <a:stretch/>
          </p:blipFill>
          <p:spPr>
            <a:xfrm>
              <a:off x="835560" y="2769120"/>
              <a:ext cx="426600" cy="428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1" name="Google Shape;256;p11"/>
            <p:cNvSpPr/>
            <p:nvPr/>
          </p:nvSpPr>
          <p:spPr>
            <a:xfrm>
              <a:off x="559800" y="228528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1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Google Shape;257;p11"/>
          <p:cNvGrpSpPr/>
          <p:nvPr/>
        </p:nvGrpSpPr>
        <p:grpSpPr>
          <a:xfrm>
            <a:off x="2327400" y="5497560"/>
            <a:ext cx="1467360" cy="767520"/>
            <a:chOff x="2327400" y="5497560"/>
            <a:chExt cx="1467360" cy="767520"/>
          </a:xfrm>
        </p:grpSpPr>
        <p:sp>
          <p:nvSpPr>
            <p:cNvPr id="203" name="Google Shape;258;p11"/>
            <p:cNvSpPr/>
            <p:nvPr/>
          </p:nvSpPr>
          <p:spPr>
            <a:xfrm>
              <a:off x="2633400" y="5497560"/>
              <a:ext cx="886320" cy="391320"/>
            </a:xfrm>
            <a:custGeom>
              <a:avLst/>
              <a:gdLst>
                <a:gd name="textAreaLeft" fmla="*/ 0 w 886320"/>
                <a:gd name="textAreaRight" fmla="*/ 887400 w 886320"/>
                <a:gd name="textAreaTop" fmla="*/ 0 h 391320"/>
                <a:gd name="textAreaBottom" fmla="*/ 392400 h 391320"/>
              </a:gdLst>
              <a:ahLst/>
              <a:cxnLst/>
              <a:rect l="textAreaLeft" t="textAreaTop" r="textAreaRight" b="textAreaBottom"/>
              <a:pathLst>
                <a:path w="2501" h="1501">
                  <a:moveTo>
                    <a:pt x="0" y="0"/>
                  </a:moveTo>
                  <a:cubicBezTo>
                    <a:pt x="0" y="1500"/>
                    <a:pt x="2500" y="1500"/>
                    <a:pt x="2500" y="0"/>
                  </a:cubicBezTo>
                </a:path>
              </a:pathLst>
            </a:custGeom>
            <a:noFill/>
            <a:ln w="2915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720" tIns="54720" rIns="99720" bIns="5472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Create DSVID</a:t>
              </a:r>
              <a:endParaRPr lang="en-US" sz="13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04" name="Google Shape;259;p11"/>
            <p:cNvPicPr/>
            <p:nvPr/>
          </p:nvPicPr>
          <p:blipFill>
            <a:blip r:embed="rId4"/>
            <a:stretch/>
          </p:blipFill>
          <p:spPr>
            <a:xfrm>
              <a:off x="2327400" y="5798160"/>
              <a:ext cx="448560" cy="466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5" name="Google Shape;260;p11"/>
            <p:cNvSpPr/>
            <p:nvPr/>
          </p:nvSpPr>
          <p:spPr>
            <a:xfrm>
              <a:off x="3398760" y="578736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" name="Google Shape;261;p11"/>
          <p:cNvGrpSpPr/>
          <p:nvPr/>
        </p:nvGrpSpPr>
        <p:grpSpPr>
          <a:xfrm>
            <a:off x="9718200" y="6365880"/>
            <a:ext cx="1328400" cy="334440"/>
            <a:chOff x="9718200" y="6365880"/>
            <a:chExt cx="1328400" cy="334440"/>
          </a:xfrm>
        </p:grpSpPr>
        <p:sp>
          <p:nvSpPr>
            <p:cNvPr id="207" name="Google Shape;262;p11"/>
            <p:cNvSpPr/>
            <p:nvPr/>
          </p:nvSpPr>
          <p:spPr>
            <a:xfrm>
              <a:off x="9718200" y="6365880"/>
              <a:ext cx="1328400" cy="360"/>
            </a:xfrm>
            <a:custGeom>
              <a:avLst/>
              <a:gdLst>
                <a:gd name="textAreaLeft" fmla="*/ 0 w 1328400"/>
                <a:gd name="textAreaRight" fmla="*/ 1329480 w 1328400"/>
                <a:gd name="textAreaTop" fmla="*/ 0 h 360"/>
                <a:gd name="textAreaBottom" fmla="*/ 2880 h 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9150">
              <a:solidFill>
                <a:srgbClr val="4EA044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" name="Google Shape;263;p11"/>
            <p:cNvSpPr/>
            <p:nvPr/>
          </p:nvSpPr>
          <p:spPr>
            <a:xfrm>
              <a:off x="9920880" y="6366960"/>
              <a:ext cx="92304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mTLS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9" name="Google Shape;264;p11"/>
          <p:cNvPicPr/>
          <p:nvPr/>
        </p:nvPicPr>
        <p:blipFill>
          <a:blip r:embed="rId3"/>
          <a:stretch/>
        </p:blipFill>
        <p:spPr>
          <a:xfrm>
            <a:off x="1928520" y="5000040"/>
            <a:ext cx="426600" cy="428760"/>
          </a:xfrm>
          <a:prstGeom prst="rect">
            <a:avLst/>
          </a:prstGeom>
          <a:ln w="0">
            <a:noFill/>
          </a:ln>
        </p:spPr>
      </p:pic>
      <p:grpSp>
        <p:nvGrpSpPr>
          <p:cNvPr id="210" name="Google Shape;265;p11"/>
          <p:cNvGrpSpPr/>
          <p:nvPr/>
        </p:nvGrpSpPr>
        <p:grpSpPr>
          <a:xfrm>
            <a:off x="7937640" y="6299280"/>
            <a:ext cx="1593720" cy="396000"/>
            <a:chOff x="7937640" y="6299280"/>
            <a:chExt cx="1593720" cy="396000"/>
          </a:xfrm>
        </p:grpSpPr>
        <p:pic>
          <p:nvPicPr>
            <p:cNvPr id="211" name="Google Shape;266;p11"/>
            <p:cNvPicPr/>
            <p:nvPr/>
          </p:nvPicPr>
          <p:blipFill>
            <a:blip r:embed="rId3"/>
            <a:stretch/>
          </p:blipFill>
          <p:spPr>
            <a:xfrm>
              <a:off x="7937640" y="6299280"/>
              <a:ext cx="396000" cy="39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2" name="Google Shape;267;p11"/>
            <p:cNvSpPr/>
            <p:nvPr/>
          </p:nvSpPr>
          <p:spPr>
            <a:xfrm>
              <a:off x="8310240" y="6356520"/>
              <a:ext cx="1221120" cy="28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OAuth token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" name="Google Shape;268;p11"/>
          <p:cNvGrpSpPr/>
          <p:nvPr/>
        </p:nvGrpSpPr>
        <p:grpSpPr>
          <a:xfrm>
            <a:off x="6493680" y="6321960"/>
            <a:ext cx="1186560" cy="350280"/>
            <a:chOff x="6493680" y="6321960"/>
            <a:chExt cx="1186560" cy="350280"/>
          </a:xfrm>
        </p:grpSpPr>
        <p:pic>
          <p:nvPicPr>
            <p:cNvPr id="214" name="Google Shape;269;p11"/>
            <p:cNvPicPr/>
            <p:nvPr/>
          </p:nvPicPr>
          <p:blipFill>
            <a:blip r:embed="rId6"/>
            <a:stretch/>
          </p:blipFill>
          <p:spPr>
            <a:xfrm>
              <a:off x="6493680" y="6321960"/>
              <a:ext cx="396000" cy="350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5" name="Google Shape;270;p11"/>
            <p:cNvSpPr/>
            <p:nvPr/>
          </p:nvSpPr>
          <p:spPr>
            <a:xfrm>
              <a:off x="6851160" y="6321960"/>
              <a:ext cx="829080" cy="28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DSVID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6" name="Google Shape;271;p11"/>
          <p:cNvSpPr/>
          <p:nvPr/>
        </p:nvSpPr>
        <p:spPr>
          <a:xfrm flipH="1">
            <a:off x="4094640" y="5115960"/>
            <a:ext cx="932040" cy="360"/>
          </a:xfrm>
          <a:custGeom>
            <a:avLst/>
            <a:gdLst>
              <a:gd name="textAreaLeft" fmla="*/ -720 w 932040"/>
              <a:gd name="textAreaRight" fmla="*/ 932400 w 93204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9150">
            <a:solidFill>
              <a:srgbClr val="99999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040" tIns="0" rIns="9504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7" name="Google Shape;272;p11"/>
          <p:cNvSpPr/>
          <p:nvPr/>
        </p:nvSpPr>
        <p:spPr>
          <a:xfrm rot="10800000">
            <a:off x="4097160" y="3724920"/>
            <a:ext cx="932040" cy="1028160"/>
          </a:xfrm>
          <a:custGeom>
            <a:avLst/>
            <a:gdLst>
              <a:gd name="textAreaLeft" fmla="*/ 0 w 932040"/>
              <a:gd name="textAreaRight" fmla="*/ 933120 w 932040"/>
              <a:gd name="textAreaTop" fmla="*/ 0 h 1028160"/>
              <a:gd name="textAreaBottom" fmla="*/ 1029240 h 102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9150">
            <a:solidFill>
              <a:srgbClr val="99999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040" tIns="50040" rIns="95040" bIns="500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8" name="Google Shape;273;p11"/>
          <p:cNvSpPr/>
          <p:nvPr/>
        </p:nvSpPr>
        <p:spPr>
          <a:xfrm rot="10800000">
            <a:off x="6734160" y="3800880"/>
            <a:ext cx="822240" cy="959760"/>
          </a:xfrm>
          <a:custGeom>
            <a:avLst/>
            <a:gdLst>
              <a:gd name="textAreaLeft" fmla="*/ 0 w 822240"/>
              <a:gd name="textAreaRight" fmla="*/ 823320 w 822240"/>
              <a:gd name="textAreaTop" fmla="*/ 0 h 959760"/>
              <a:gd name="textAreaBottom" fmla="*/ 960840 h 9597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9150">
            <a:solidFill>
              <a:srgbClr val="99999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040" tIns="50040" rIns="95040" bIns="500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" name="Google Shape;274;p11"/>
          <p:cNvSpPr/>
          <p:nvPr/>
        </p:nvSpPr>
        <p:spPr>
          <a:xfrm rot="10800000" flipH="1">
            <a:off x="9830160" y="3740040"/>
            <a:ext cx="586800" cy="1013040"/>
          </a:xfrm>
          <a:custGeom>
            <a:avLst/>
            <a:gdLst>
              <a:gd name="textAreaLeft" fmla="*/ 720 w 586800"/>
              <a:gd name="textAreaRight" fmla="*/ 588600 w 586800"/>
              <a:gd name="textAreaTop" fmla="*/ 0 h 1013040"/>
              <a:gd name="textAreaBottom" fmla="*/ 1014120 h 10130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9150">
            <a:solidFill>
              <a:srgbClr val="99999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040" tIns="50040" rIns="95040" bIns="500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20" name="Google Shape;275;p11"/>
          <p:cNvGrpSpPr/>
          <p:nvPr/>
        </p:nvGrpSpPr>
        <p:grpSpPr>
          <a:xfrm>
            <a:off x="1678320" y="2021400"/>
            <a:ext cx="1808280" cy="978480"/>
            <a:chOff x="1678320" y="2021400"/>
            <a:chExt cx="1808280" cy="978480"/>
          </a:xfrm>
        </p:grpSpPr>
        <p:sp>
          <p:nvSpPr>
            <p:cNvPr id="221" name="Google Shape;276;p11"/>
            <p:cNvSpPr/>
            <p:nvPr/>
          </p:nvSpPr>
          <p:spPr>
            <a:xfrm>
              <a:off x="2420280" y="2567880"/>
              <a:ext cx="1066320" cy="432000"/>
            </a:xfrm>
            <a:custGeom>
              <a:avLst/>
              <a:gdLst>
                <a:gd name="textAreaLeft" fmla="*/ 0 w 1066320"/>
                <a:gd name="textAreaRight" fmla="*/ 1067400 w 1066320"/>
                <a:gd name="textAreaTop" fmla="*/ 0 h 432000"/>
                <a:gd name="textAreaBottom" fmla="*/ 433080 h 432000"/>
              </a:gdLst>
              <a:ahLst/>
              <a:cxnLst/>
              <a:rect l="textAreaLeft" t="textAreaTop" r="textAreaRight" b="textAreaBottom"/>
              <a:pathLst>
                <a:path w="3001" h="1652">
                  <a:moveTo>
                    <a:pt x="0" y="1651"/>
                  </a:moveTo>
                  <a:cubicBezTo>
                    <a:pt x="0" y="0"/>
                    <a:pt x="3000" y="2"/>
                    <a:pt x="3000" y="1651"/>
                  </a:cubicBezTo>
                </a:path>
              </a:pathLst>
            </a:custGeom>
            <a:noFill/>
            <a:ln w="2915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720" tIns="54720" rIns="99720" bIns="5472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Extend</a:t>
              </a:r>
              <a:br>
                <a:rPr sz="1400"/>
              </a:b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DSVID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22" name="Google Shape;277;p11"/>
            <p:cNvPicPr/>
            <p:nvPr/>
          </p:nvPicPr>
          <p:blipFill>
            <a:blip r:embed="rId7"/>
            <a:stretch/>
          </p:blipFill>
          <p:spPr>
            <a:xfrm>
              <a:off x="2165400" y="2021400"/>
              <a:ext cx="469440" cy="64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3" name="Google Shape;278;p11"/>
            <p:cNvSpPr/>
            <p:nvPr/>
          </p:nvSpPr>
          <p:spPr>
            <a:xfrm>
              <a:off x="1678320" y="214884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" name="Google Shape;279;p11"/>
          <p:cNvGrpSpPr/>
          <p:nvPr/>
        </p:nvGrpSpPr>
        <p:grpSpPr>
          <a:xfrm>
            <a:off x="5369400" y="2021400"/>
            <a:ext cx="1846080" cy="970920"/>
            <a:chOff x="5369400" y="2021400"/>
            <a:chExt cx="1846080" cy="970920"/>
          </a:xfrm>
        </p:grpSpPr>
        <p:sp>
          <p:nvSpPr>
            <p:cNvPr id="225" name="Google Shape;280;p11"/>
            <p:cNvSpPr/>
            <p:nvPr/>
          </p:nvSpPr>
          <p:spPr>
            <a:xfrm>
              <a:off x="6149160" y="2560320"/>
              <a:ext cx="1066320" cy="432000"/>
            </a:xfrm>
            <a:custGeom>
              <a:avLst/>
              <a:gdLst>
                <a:gd name="textAreaLeft" fmla="*/ 0 w 1066320"/>
                <a:gd name="textAreaRight" fmla="*/ 1067400 w 1066320"/>
                <a:gd name="textAreaTop" fmla="*/ 0 h 432000"/>
                <a:gd name="textAreaBottom" fmla="*/ 433080 h 432000"/>
              </a:gdLst>
              <a:ahLst/>
              <a:cxnLst/>
              <a:rect l="textAreaLeft" t="textAreaTop" r="textAreaRight" b="textAreaBottom"/>
              <a:pathLst>
                <a:path w="3001" h="1652">
                  <a:moveTo>
                    <a:pt x="0" y="1651"/>
                  </a:moveTo>
                  <a:cubicBezTo>
                    <a:pt x="0" y="0"/>
                    <a:pt x="3000" y="2"/>
                    <a:pt x="3000" y="1651"/>
                  </a:cubicBezTo>
                </a:path>
              </a:pathLst>
            </a:custGeom>
            <a:noFill/>
            <a:ln w="2915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720" tIns="54720" rIns="99720" bIns="5472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Extend</a:t>
              </a:r>
              <a:br>
                <a:rPr sz="1400"/>
              </a:b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DSVID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26" name="Google Shape;281;p11"/>
            <p:cNvPicPr/>
            <p:nvPr/>
          </p:nvPicPr>
          <p:blipFill>
            <a:blip r:embed="rId7"/>
            <a:stretch/>
          </p:blipFill>
          <p:spPr>
            <a:xfrm>
              <a:off x="5843880" y="2021400"/>
              <a:ext cx="469440" cy="64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7" name="Google Shape;282;p11"/>
            <p:cNvSpPr/>
            <p:nvPr/>
          </p:nvSpPr>
          <p:spPr>
            <a:xfrm>
              <a:off x="5369400" y="214884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" name="Google Shape;283;p11"/>
          <p:cNvGrpSpPr/>
          <p:nvPr/>
        </p:nvGrpSpPr>
        <p:grpSpPr>
          <a:xfrm>
            <a:off x="8803440" y="2044800"/>
            <a:ext cx="2480760" cy="939960"/>
            <a:chOff x="8803440" y="2044800"/>
            <a:chExt cx="2480760" cy="939960"/>
          </a:xfrm>
        </p:grpSpPr>
        <p:sp>
          <p:nvSpPr>
            <p:cNvPr id="229" name="Google Shape;284;p11"/>
            <p:cNvSpPr/>
            <p:nvPr/>
          </p:nvSpPr>
          <p:spPr>
            <a:xfrm>
              <a:off x="9713160" y="2484000"/>
              <a:ext cx="1571040" cy="500760"/>
            </a:xfrm>
            <a:custGeom>
              <a:avLst/>
              <a:gdLst>
                <a:gd name="textAreaLeft" fmla="*/ 0 w 1571040"/>
                <a:gd name="textAreaRight" fmla="*/ 1572120 w 1571040"/>
                <a:gd name="textAreaTop" fmla="*/ 0 h 500760"/>
                <a:gd name="textAreaBottom" fmla="*/ 501840 h 500760"/>
              </a:gdLst>
              <a:ahLst/>
              <a:cxnLst/>
              <a:rect l="textAreaLeft" t="textAreaTop" r="textAreaRight" b="textAreaBottom"/>
              <a:pathLst>
                <a:path w="3001" h="1652">
                  <a:moveTo>
                    <a:pt x="0" y="1651"/>
                  </a:moveTo>
                  <a:cubicBezTo>
                    <a:pt x="0" y="0"/>
                    <a:pt x="3000" y="2"/>
                    <a:pt x="3000" y="1651"/>
                  </a:cubicBezTo>
                </a:path>
              </a:pathLst>
            </a:custGeom>
            <a:noFill/>
            <a:ln w="2915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720" tIns="54720" rIns="99720" bIns="5472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Validate DSVID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30" name="Google Shape;285;p11"/>
            <p:cNvPicPr/>
            <p:nvPr/>
          </p:nvPicPr>
          <p:blipFill>
            <a:blip r:embed="rId7"/>
            <a:stretch/>
          </p:blipFill>
          <p:spPr>
            <a:xfrm>
              <a:off x="9272880" y="2044800"/>
              <a:ext cx="469440" cy="64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1" name="Google Shape;286;p11"/>
            <p:cNvSpPr/>
            <p:nvPr/>
          </p:nvSpPr>
          <p:spPr>
            <a:xfrm>
              <a:off x="8803440" y="2184840"/>
              <a:ext cx="396000" cy="396000"/>
            </a:xfrm>
            <a:prstGeom prst="ellipse">
              <a:avLst/>
            </a:prstGeom>
            <a:solidFill>
              <a:srgbClr val="FFFFFF"/>
            </a:solidFill>
            <a:ln w="19075">
              <a:solidFill>
                <a:srgbClr val="2540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9360" tIns="54360" rIns="99360" bIns="5436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2" name="Google Shape;287;p11"/>
          <p:cNvSpPr/>
          <p:nvPr/>
        </p:nvSpPr>
        <p:spPr>
          <a:xfrm>
            <a:off x="8254440" y="5926680"/>
            <a:ext cx="1186560" cy="37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08080"/>
                </a:solidFill>
                <a:latin typeface="Arial"/>
                <a:ea typeface="Arial"/>
              </a:rPr>
              <a:t>Notation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92;p 1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234" name="Google Shape;293;p 1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Benchmarking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5" name="Google Shape;294;p 1"/>
          <p:cNvGraphicFramePr/>
          <p:nvPr/>
        </p:nvGraphicFramePr>
        <p:xfrm>
          <a:off x="5952240" y="2850480"/>
          <a:ext cx="6060960" cy="1906560"/>
        </p:xfrm>
        <a:graphic>
          <a:graphicData uri="http://schemas.openxmlformats.org/drawingml/2006/table">
            <a:tbl>
              <a:tblPr/>
              <a:tblGrid>
                <a:gridCol w="1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9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Scheme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B059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Minting/Extension (μs)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B059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Validation (μs)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B05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ID-Mode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189.69 ± 36.34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351.23 ± 84.56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Anonymous-mode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1015.01 ± 246.86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659.56 ± 144.62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anchor="ctr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6" name="Google Shape;295;p 1"/>
          <p:cNvSpPr/>
          <p:nvPr/>
        </p:nvSpPr>
        <p:spPr>
          <a:xfrm>
            <a:off x="5964120" y="2394360"/>
            <a:ext cx="60483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Operation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297;p 1"/>
          <p:cNvSpPr/>
          <p:nvPr/>
        </p:nvSpPr>
        <p:spPr>
          <a:xfrm>
            <a:off x="630000" y="891000"/>
            <a:ext cx="4610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B0595D"/>
                </a:solidFill>
                <a:latin typeface="Arial"/>
                <a:ea typeface="Arial"/>
              </a:rPr>
              <a:t>Token size (bytes)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Picture 237"/>
          <p:cNvPicPr/>
          <p:nvPr/>
        </p:nvPicPr>
        <p:blipFill>
          <a:blip r:embed="rId3"/>
          <a:stretch/>
        </p:blipFill>
        <p:spPr>
          <a:xfrm>
            <a:off x="93960" y="1206000"/>
            <a:ext cx="5394240" cy="5595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302;p13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240" name="Google Shape;303;p13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Use case: LSVID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304;p13"/>
          <p:cNvSpPr/>
          <p:nvPr/>
        </p:nvSpPr>
        <p:spPr>
          <a:xfrm>
            <a:off x="228600" y="965160"/>
            <a:ext cx="7294680" cy="53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B0595D"/>
                </a:solidFill>
                <a:latin typeface="Calibri"/>
                <a:ea typeface="Calibri"/>
              </a:rPr>
              <a:t>L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ightweight </a:t>
            </a:r>
            <a:r>
              <a:rPr lang="en-US" sz="2800" b="1" strike="noStrike" spc="-1">
                <a:solidFill>
                  <a:srgbClr val="B0595D"/>
                </a:solidFill>
                <a:latin typeface="Calibri"/>
                <a:ea typeface="Calibri"/>
              </a:rPr>
              <a:t>SVID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 (LSVID) is a small and flexible identity document that </a:t>
            </a:r>
            <a:r>
              <a:rPr lang="en-US" sz="2800" b="1" strike="noStrike" spc="-1">
                <a:solidFill>
                  <a:srgbClr val="B0595D"/>
                </a:solidFill>
                <a:latin typeface="Calibri"/>
                <a:ea typeface="Calibri"/>
              </a:rPr>
              <a:t>can be extended and used as a token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0"/>
              </a:spcBef>
              <a:buClr>
                <a:srgbClr val="B0595D"/>
              </a:buClr>
              <a:buFont typeface="Noto Sans Symbols"/>
              <a:buChar char="❍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Created by SPIRE-Server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80"/>
              </a:spcBef>
              <a:buClr>
                <a:srgbClr val="B0595D"/>
              </a:buClr>
              <a:buFont typeface="Noto Sans Symbols"/>
              <a:buChar char="❍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Support attenuation, delegation,</a:t>
            </a:r>
            <a:br>
              <a:rPr sz="2800"/>
            </a:b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or other application lvl functionality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80"/>
              </a:spcBef>
              <a:buClr>
                <a:srgbClr val="B0595D"/>
              </a:buClr>
              <a:buFont typeface="Noto Sans Symbols"/>
              <a:buChar char="❍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Can embed another LSVID in the</a:t>
            </a:r>
            <a:br>
              <a:rPr sz="2800"/>
            </a:b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Identity claims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Google Shape;305;p13"/>
          <p:cNvPicPr/>
          <p:nvPr/>
        </p:nvPicPr>
        <p:blipFill>
          <a:blip r:embed="rId3"/>
          <a:stretch/>
        </p:blipFill>
        <p:spPr>
          <a:xfrm>
            <a:off x="6321960" y="1562400"/>
            <a:ext cx="5569920" cy="4966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310;g1f7cc8d7375_0_0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244" name="Google Shape;311;g1f7cc8d7375_0_0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300" b="0" strike="noStrike" spc="-1">
                <a:solidFill>
                  <a:srgbClr val="FFFFFF"/>
                </a:solidFill>
                <a:latin typeface="Calibri"/>
                <a:ea typeface="Calibri"/>
              </a:rPr>
              <a:t>Considerations &amp; Future work</a:t>
            </a:r>
            <a:endParaRPr lang="en-US" sz="4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312;g1f7cc8d7375_0_0"/>
          <p:cNvSpPr/>
          <p:nvPr/>
        </p:nvSpPr>
        <p:spPr>
          <a:xfrm>
            <a:off x="228600" y="965160"/>
            <a:ext cx="11647800" cy="53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3600"/>
              </a:spcBef>
              <a:buClr>
                <a:srgbClr val="B0595D"/>
              </a:buClr>
              <a:buFont typeface="Noto Sans Symbols"/>
              <a:buChar char="❍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ID-Mode relies on an existing IdP, promoting a well-defined chain of trust between workloads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0"/>
              </a:spcBef>
              <a:buClr>
                <a:srgbClr val="B0595D"/>
              </a:buClr>
              <a:buFont typeface="Noto Sans Symbols"/>
              <a:buChar char="❍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 Anon-Mode implements a signature concatenation scheme, resulting in smaller tokens without requiring an IdP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80"/>
              </a:spcBef>
              <a:buClr>
                <a:srgbClr val="B0595D"/>
              </a:buClr>
              <a:buFont typeface="Noto Sans Symbols"/>
              <a:buChar char="❍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Future work: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53160">
              <a:lnSpc>
                <a:spcPct val="100000"/>
              </a:lnSpc>
              <a:spcBef>
                <a:spcPts val="2880"/>
              </a:spcBef>
              <a:buClr>
                <a:srgbClr val="B0595D"/>
              </a:buClr>
              <a:buFont typeface="Noto Sans Symbols"/>
              <a:buChar char="○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Hybrid Mode: aggregates ID and Anonymous keys, resulting in a unique key for each token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53160">
              <a:lnSpc>
                <a:spcPct val="100000"/>
              </a:lnSpc>
              <a:spcBef>
                <a:spcPts val="2880"/>
              </a:spcBef>
              <a:buClr>
                <a:srgbClr val="B0595D"/>
              </a:buClr>
              <a:buFont typeface="Noto Sans Symbols"/>
              <a:buChar char="○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SchoCo-Biscuits: improve existing Biscuits implementation, adding the signature aggregation scheme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317;p14"/>
          <p:cNvPicPr/>
          <p:nvPr/>
        </p:nvPicPr>
        <p:blipFill>
          <a:blip r:embed="rId2"/>
          <a:stretch/>
        </p:blipFill>
        <p:spPr>
          <a:xfrm>
            <a:off x="0" y="0"/>
            <a:ext cx="12213720" cy="768960"/>
          </a:xfrm>
          <a:prstGeom prst="rect">
            <a:avLst/>
          </a:prstGeom>
          <a:ln w="0">
            <a:noFill/>
          </a:ln>
        </p:spPr>
      </p:pic>
      <p:sp>
        <p:nvSpPr>
          <p:cNvPr id="247" name="Google Shape;318;p14"/>
          <p:cNvSpPr/>
          <p:nvPr/>
        </p:nvSpPr>
        <p:spPr>
          <a:xfrm>
            <a:off x="1343160" y="0"/>
            <a:ext cx="672192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  <a:ea typeface="Calibri"/>
              </a:rPr>
              <a:t>References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319;p14"/>
          <p:cNvSpPr/>
          <p:nvPr/>
        </p:nvSpPr>
        <p:spPr>
          <a:xfrm>
            <a:off x="2435040" y="1300680"/>
            <a:ext cx="9265320" cy="533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SPIFFE Slack channel: #wg-assertions-and-tokens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449"/>
              </a:spcBef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Nested token proof of concept: Golang package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305"/>
              </a:spcBef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Nested token Specification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5"/>
              </a:spcBef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  <a:ea typeface="Arial"/>
              </a:rPr>
              <a:t>LSVID Specification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Picture 248"/>
          <p:cNvPicPr/>
          <p:nvPr/>
        </p:nvPicPr>
        <p:blipFill>
          <a:blip r:embed="rId3"/>
          <a:stretch/>
        </p:blipFill>
        <p:spPr>
          <a:xfrm>
            <a:off x="1042200" y="924480"/>
            <a:ext cx="1280160" cy="1280160"/>
          </a:xfrm>
          <a:prstGeom prst="rect">
            <a:avLst/>
          </a:prstGeom>
          <a:ln w="0">
            <a:noFill/>
          </a:ln>
        </p:spPr>
      </p:pic>
      <p:pic>
        <p:nvPicPr>
          <p:cNvPr id="250" name="Picture 249"/>
          <p:cNvPicPr/>
          <p:nvPr/>
        </p:nvPicPr>
        <p:blipFill>
          <a:blip r:embed="rId4"/>
          <a:stretch/>
        </p:blipFill>
        <p:spPr>
          <a:xfrm>
            <a:off x="1023120" y="2417760"/>
            <a:ext cx="1280160" cy="1280160"/>
          </a:xfrm>
          <a:prstGeom prst="rect">
            <a:avLst/>
          </a:prstGeom>
          <a:ln w="0">
            <a:noFill/>
          </a:ln>
        </p:spPr>
      </p:pic>
      <p:pic>
        <p:nvPicPr>
          <p:cNvPr id="251" name="Picture 250"/>
          <p:cNvPicPr/>
          <p:nvPr/>
        </p:nvPicPr>
        <p:blipFill>
          <a:blip r:embed="rId5"/>
          <a:stretch/>
        </p:blipFill>
        <p:spPr>
          <a:xfrm>
            <a:off x="1021320" y="3911400"/>
            <a:ext cx="1280160" cy="1280160"/>
          </a:xfrm>
          <a:prstGeom prst="rect">
            <a:avLst/>
          </a:prstGeom>
          <a:ln w="0">
            <a:noFill/>
          </a:ln>
        </p:spPr>
      </p:pic>
      <p:pic>
        <p:nvPicPr>
          <p:cNvPr id="252" name="Picture 251"/>
          <p:cNvPicPr/>
          <p:nvPr/>
        </p:nvPicPr>
        <p:blipFill>
          <a:blip r:embed="rId6"/>
          <a:stretch/>
        </p:blipFill>
        <p:spPr>
          <a:xfrm>
            <a:off x="1026360" y="5404680"/>
            <a:ext cx="1280160" cy="1280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325;p15"/>
          <p:cNvSpPr/>
          <p:nvPr/>
        </p:nvSpPr>
        <p:spPr>
          <a:xfrm>
            <a:off x="155160" y="-144360"/>
            <a:ext cx="9163440" cy="26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54" name="Google Shape;326;p15" descr="Logotipos | Universidade de São Paulo"/>
          <p:cNvPicPr/>
          <p:nvPr/>
        </p:nvPicPr>
        <p:blipFill>
          <a:blip r:embed="rId2"/>
          <a:stretch/>
        </p:blipFill>
        <p:spPr>
          <a:xfrm>
            <a:off x="108000" y="1429200"/>
            <a:ext cx="1702800" cy="1264680"/>
          </a:xfrm>
          <a:prstGeom prst="rect">
            <a:avLst/>
          </a:prstGeom>
          <a:ln w="0">
            <a:noFill/>
          </a:ln>
        </p:spPr>
      </p:pic>
      <p:pic>
        <p:nvPicPr>
          <p:cNvPr id="255" name="Google Shape;327;p15"/>
          <p:cNvPicPr/>
          <p:nvPr/>
        </p:nvPicPr>
        <p:blipFill>
          <a:blip r:embed="rId3"/>
          <a:stretch/>
        </p:blipFill>
        <p:spPr>
          <a:xfrm>
            <a:off x="108000" y="3456000"/>
            <a:ext cx="3066480" cy="668520"/>
          </a:xfrm>
          <a:prstGeom prst="rect">
            <a:avLst/>
          </a:prstGeom>
          <a:ln w="0">
            <a:noFill/>
          </a:ln>
        </p:spPr>
      </p:pic>
      <p:pic>
        <p:nvPicPr>
          <p:cNvPr id="256" name="Google Shape;328;p15"/>
          <p:cNvPicPr/>
          <p:nvPr/>
        </p:nvPicPr>
        <p:blipFill>
          <a:blip r:embed="rId4"/>
          <a:stretch/>
        </p:blipFill>
        <p:spPr>
          <a:xfrm>
            <a:off x="-11520" y="6206040"/>
            <a:ext cx="12213720" cy="664920"/>
          </a:xfrm>
          <a:prstGeom prst="rect">
            <a:avLst/>
          </a:prstGeom>
          <a:ln w="0">
            <a:noFill/>
          </a:ln>
        </p:spPr>
      </p:pic>
      <p:pic>
        <p:nvPicPr>
          <p:cNvPr id="257" name="Google Shape;329;p15"/>
          <p:cNvPicPr/>
          <p:nvPr/>
        </p:nvPicPr>
        <p:blipFill>
          <a:blip r:embed="rId5"/>
          <a:stretch/>
        </p:blipFill>
        <p:spPr>
          <a:xfrm>
            <a:off x="-11520" y="-36000"/>
            <a:ext cx="12213720" cy="1414800"/>
          </a:xfrm>
          <a:prstGeom prst="rect">
            <a:avLst/>
          </a:prstGeom>
          <a:ln w="0">
            <a:noFill/>
          </a:ln>
        </p:spPr>
      </p:pic>
      <p:pic>
        <p:nvPicPr>
          <p:cNvPr id="258" name="Google Shape;330;p15"/>
          <p:cNvPicPr/>
          <p:nvPr/>
        </p:nvPicPr>
        <p:blipFill>
          <a:blip r:embed="rId6"/>
          <a:stretch/>
        </p:blipFill>
        <p:spPr>
          <a:xfrm>
            <a:off x="4263480" y="1381320"/>
            <a:ext cx="3018960" cy="3171600"/>
          </a:xfrm>
          <a:prstGeom prst="rect">
            <a:avLst/>
          </a:prstGeom>
          <a:ln w="0">
            <a:noFill/>
          </a:ln>
        </p:spPr>
      </p:pic>
      <p:sp>
        <p:nvSpPr>
          <p:cNvPr id="259" name="Google Shape;331;p15"/>
          <p:cNvSpPr/>
          <p:nvPr/>
        </p:nvSpPr>
        <p:spPr>
          <a:xfrm>
            <a:off x="2763000" y="4419720"/>
            <a:ext cx="6388200" cy="80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000000"/>
                </a:solidFill>
                <a:latin typeface="Calibri"/>
                <a:ea typeface="Calibri"/>
              </a:rPr>
              <a:t>Thanks!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Google Shape;332;p15" descr="Ficheiro:Hewlett Packard Enterprise logo.svg – Wikipédia, a enciclopédia  livre"/>
          <p:cNvPicPr/>
          <p:nvPr/>
        </p:nvPicPr>
        <p:blipFill>
          <a:blip r:embed="rId7"/>
          <a:stretch/>
        </p:blipFill>
        <p:spPr>
          <a:xfrm>
            <a:off x="108000" y="5000760"/>
            <a:ext cx="2563560" cy="1035720"/>
          </a:xfrm>
          <a:prstGeom prst="rect">
            <a:avLst/>
          </a:prstGeom>
          <a:ln w="0">
            <a:noFill/>
          </a:ln>
        </p:spPr>
      </p:pic>
      <p:pic>
        <p:nvPicPr>
          <p:cNvPr id="261" name="Google Shape;333;p15"/>
          <p:cNvPicPr/>
          <p:nvPr/>
        </p:nvPicPr>
        <p:blipFill>
          <a:blip r:embed="rId8"/>
          <a:stretch/>
        </p:blipFill>
        <p:spPr>
          <a:xfrm>
            <a:off x="9237960" y="1453320"/>
            <a:ext cx="2701080" cy="825120"/>
          </a:xfrm>
          <a:prstGeom prst="rect">
            <a:avLst/>
          </a:prstGeom>
          <a:ln w="0">
            <a:noFill/>
          </a:ln>
        </p:spPr>
      </p:pic>
      <p:pic>
        <p:nvPicPr>
          <p:cNvPr id="262" name="Google Shape;334;p15"/>
          <p:cNvPicPr/>
          <p:nvPr/>
        </p:nvPicPr>
        <p:blipFill>
          <a:blip r:embed="rId9"/>
          <a:stretch/>
        </p:blipFill>
        <p:spPr>
          <a:xfrm>
            <a:off x="9153720" y="5139720"/>
            <a:ext cx="2869920" cy="809280"/>
          </a:xfrm>
          <a:prstGeom prst="rect">
            <a:avLst/>
          </a:prstGeom>
          <a:ln w="0">
            <a:noFill/>
          </a:ln>
        </p:spPr>
      </p:pic>
      <p:pic>
        <p:nvPicPr>
          <p:cNvPr id="263" name="Google Shape;335;p15"/>
          <p:cNvPicPr/>
          <p:nvPr/>
        </p:nvPicPr>
        <p:blipFill>
          <a:blip r:embed="rId10"/>
          <a:stretch/>
        </p:blipFill>
        <p:spPr>
          <a:xfrm>
            <a:off x="9921600" y="3101400"/>
            <a:ext cx="1333800" cy="1207440"/>
          </a:xfrm>
          <a:prstGeom prst="rect">
            <a:avLst/>
          </a:prstGeom>
          <a:ln w="0">
            <a:noFill/>
          </a:ln>
        </p:spPr>
      </p:pic>
      <p:sp>
        <p:nvSpPr>
          <p:cNvPr id="264" name="Google Shape;336;p15"/>
          <p:cNvSpPr/>
          <p:nvPr/>
        </p:nvSpPr>
        <p:spPr>
          <a:xfrm>
            <a:off x="2763000" y="5139720"/>
            <a:ext cx="6388200" cy="80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2649</TotalTime>
  <Words>597</Words>
  <Application>Microsoft Macintosh PowerPoint</Application>
  <PresentationFormat>Custom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Noto Sans Symbols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Ambrosi, Joao</dc:creator>
  <dc:description/>
  <cp:lastModifiedBy>Yogi Porla</cp:lastModifiedBy>
  <cp:revision>19</cp:revision>
  <dcterms:created xsi:type="dcterms:W3CDTF">2021-08-04T11:02:43Z</dcterms:created>
  <dcterms:modified xsi:type="dcterms:W3CDTF">2024-08-15T22:18:13Z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